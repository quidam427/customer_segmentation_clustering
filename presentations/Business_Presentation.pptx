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Share of customers</c:v>
                </c:pt>
              </c:strCache>
            </c:strRef>
          </c:tx>
          <c:spPr>
            <a:solidFill>
              <a:srgbClr val="1B7F79"/>
            </a:solidFill>
          </c:spPr>
          <c:cat>
            <c:strRef>
              <c:f>Sheet1!$A$2:$A$5</c:f>
              <c:strCache>
                <c:ptCount val="4"/>
                <c:pt idx="0">
                  <c:v>Loyal Regulars</c:v>
                </c:pt>
                <c:pt idx="1">
                  <c:v>New Customers</c:v>
                </c:pt>
                <c:pt idx="2">
                  <c:v>Lapsed Customers</c:v>
                </c:pt>
                <c:pt idx="3">
                  <c:v>Heavy Returners</c:v>
                </c:pt>
              </c:strCache>
            </c:strRef>
          </c:cat>
          <c:val>
            <c:numRef>
              <c:f>Sheet1!$B$2:$B$5</c:f>
              <c:numCache>
                <c:formatCode>General</c:formatCode>
                <c:ptCount val="4"/>
                <c:pt idx="0">
                  <c:v>0.365</c:v>
                </c:pt>
                <c:pt idx="1">
                  <c:v>0.289</c:v>
                </c:pt>
                <c:pt idx="2">
                  <c:v>0.312</c:v>
                </c:pt>
                <c:pt idx="3">
                  <c:v>0.034</c:v>
                </c:pt>
              </c:numCache>
            </c:numRef>
          </c:val>
        </c:ser>
        <c:ser>
          <c:idx val="1"/>
          <c:order val="1"/>
          <c:tx>
            <c:strRef>
              <c:f>Sheet1!$C$1</c:f>
              <c:strCache>
                <c:ptCount val="1"/>
                <c:pt idx="0">
                  <c:v>Share of sales</c:v>
                </c:pt>
              </c:strCache>
            </c:strRef>
          </c:tx>
          <c:spPr>
            <a:solidFill>
              <a:srgbClr val="E2725B"/>
            </a:solidFill>
          </c:spPr>
          <c:cat>
            <c:strRef>
              <c:f>Sheet1!$A$2:$A$5</c:f>
              <c:strCache>
                <c:ptCount val="4"/>
                <c:pt idx="0">
                  <c:v>Loyal Regulars</c:v>
                </c:pt>
                <c:pt idx="1">
                  <c:v>New Customers</c:v>
                </c:pt>
                <c:pt idx="2">
                  <c:v>Lapsed Customers</c:v>
                </c:pt>
                <c:pt idx="3">
                  <c:v>Heavy Returners</c:v>
                </c:pt>
              </c:strCache>
            </c:strRef>
          </c:cat>
          <c:val>
            <c:numRef>
              <c:f>Sheet1!$C$2:$C$5</c:f>
              <c:numCache>
                <c:formatCode>General</c:formatCode>
                <c:ptCount val="4"/>
                <c:pt idx="0">
                  <c:v>0.829</c:v>
                </c:pt>
                <c:pt idx="1">
                  <c:v>0.074</c:v>
                </c:pt>
                <c:pt idx="2">
                  <c:v>0.058</c:v>
                </c:pt>
                <c:pt idx="3">
                  <c:v>0.039</c:v>
                </c:pt>
              </c:numCache>
            </c:numRef>
          </c:val>
        </c:ser>
        <c:dLbls>
          <c:numFmt formatCode="0%" sourceLinked="0"/>
          <c:txPr>
            <a:bodyPr/>
            <a:lstStyle/>
            <a:p>
              <a:pPr>
                <a:defRPr sz="1400" b="1">
                  <a:solidFill>
                    <a:srgbClr val="1F2A2A"/>
                  </a:solidFill>
                </a:defRPr>
              </a:pPr>
            </a:p>
          </c:txPr>
          <c:dLblPos val="outEnd"/>
          <c:showLegendKey val="0"/>
          <c:showVal val="1"/>
          <c:showCatName val="0"/>
          <c:showSerName val="0"/>
          <c:showPercent val="0"/>
          <c:showBubbleSize val="0"/>
          <c:showLeaderLines val="1"/>
        </c:dLbls>
        <c:gapWidth val="70"/>
        <c:overlap val="-8"/>
        <c:axId val="-2068027336"/>
        <c:axId val="-2113994440"/>
      </c:barChart>
      <c:catAx>
        <c:axId val="-2068027336"/>
        <c:scaling>
          <c:orientation val="minMax"/>
        </c:scaling>
        <c:delete val="0"/>
        <c:axPos val="b"/>
        <c:majorTickMark val="out"/>
        <c:minorTickMark val="none"/>
        <c:tickLblPos val="nextTo"/>
        <c:spPr>
          <a:ln>
            <a:solidFill>
              <a:srgbClr val="B9D3D1"/>
            </a:solidFill>
          </a:ln>
        </c:spPr>
        <c:txPr>
          <a:bodyPr/>
          <a:lstStyle/>
          <a:p>
            <a:pPr>
              <a:defRPr sz="1400">
                <a:solidFill>
                  <a:srgbClr val="1F2A2A"/>
                </a:solidFill>
              </a:defRPr>
            </a:pPr>
          </a:p>
        </c:txPr>
        <c:crossAx val="-2113994440"/>
        <c:crosses val="autoZero"/>
        <c:auto val="1"/>
        <c:lblAlgn val="ctr"/>
        <c:lblOffset val="100"/>
        <c:noMultiLvlLbl val="0"/>
      </c:catAx>
      <c:valAx>
        <c:axId val="-2113994440"/>
        <c:scaling>
          <c:max val="1.0"/>
          <c:min val="0.0"/>
        </c:scaling>
        <c:delete/>
        <c:axPos val="l"/>
        <c:majorTickMark val="out"/>
        <c:minorTickMark val="none"/>
        <c:tickLblPos val="nextTo"/>
        <c:crossAx val="-2068027336"/>
        <c:crosses val="autoZero"/>
      </c:valAx>
    </c:plotArea>
    <c:legend>
      <c:legendPos val="t"/>
      <c:overlay val="0"/>
      <c:txPr>
        <a:bodyPr/>
        <a:lstStyle/>
        <a:p>
          <a:pPr>
            <a:defRPr sz="1400"/>
          </a:pPr>
        </a:p>
      </c:txPr>
    </c:legend>
    <c:dispBlanksAs val="gap"/>
  </c:chart>
  <c:txPr>
    <a:bodyPr/>
    <a:lstStyle/>
    <a:p>
      <a:pPr>
        <a:defRPr sz="1400">
          <a:solidFill>
            <a:srgbClr val="5E6B6B"/>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Value in year one (£ thousand)</c:v>
                </c:pt>
              </c:strCache>
            </c:strRef>
          </c:tx>
          <c:spPr>
            <a:solidFill>
              <a:srgbClr val="1B7F79"/>
            </a:solidFill>
          </c:spPr>
          <c:cat>
            <c:strRef>
              <c:f>Sheet1!$A$2:$A$4</c:f>
              <c:strCache>
                <c:ptCount val="3"/>
                <c:pt idx="0">
                  <c:v>Keep: retain 1% more Loyal Regular sales</c:v>
                </c:pt>
                <c:pt idx="1">
                  <c:v>Grow: 10% of New Customers become regulars</c:v>
                </c:pt>
                <c:pt idx="2">
                  <c:v>Win back: 5% of Lapsed Customers reorder</c:v>
                </c:pt>
              </c:strCache>
            </c:strRef>
          </c:cat>
          <c:val>
            <c:numRef>
              <c:f>Sheet1!$B$2:$B$4</c:f>
              <c:numCache>
                <c:formatCode>General</c:formatCode>
                <c:ptCount val="3"/>
                <c:pt idx="0">
                  <c:v>71</c:v>
                </c:pt>
                <c:pt idx="1">
                  <c:v>206</c:v>
                </c:pt>
                <c:pt idx="2">
                  <c:v>33</c:v>
                </c:pt>
              </c:numCache>
            </c:numRef>
          </c:val>
        </c:ser>
        <c:dLbls>
          <c:numFmt formatCode="&quot;£&quot;0&quot;k&quot;" sourceLinked="0"/>
          <c:txPr>
            <a:bodyPr/>
            <a:lstStyle/>
            <a:p>
              <a:pPr>
                <a:defRPr sz="1600" b="1">
                  <a:solidFill>
                    <a:srgbClr val="1F2A2A"/>
                  </a:solidFill>
                </a:defRPr>
              </a:pPr>
            </a:p>
          </c:txPr>
          <c:dLblPos val="outEnd"/>
          <c:showLegendKey val="0"/>
          <c:showVal val="1"/>
          <c:showCatName val="0"/>
          <c:showSerName val="0"/>
          <c:showPercent val="0"/>
          <c:showBubbleSize val="0"/>
          <c:showLeaderLines val="1"/>
        </c:dLbls>
        <c:gapWidth val="55"/>
        <c:overlap val="-8"/>
        <c:axId val="-2068027336"/>
        <c:axId val="-2113994440"/>
      </c:barChart>
      <c:catAx>
        <c:axId val="-2068027336"/>
        <c:scaling>
          <c:orientation val="maxMin"/>
        </c:scaling>
        <c:delete val="0"/>
        <c:axPos val="l"/>
        <c:majorTickMark val="out"/>
        <c:minorTickMark val="none"/>
        <c:tickLblPos val="nextTo"/>
        <c:spPr>
          <a:ln>
            <a:solidFill>
              <a:srgbClr val="B9D3D1"/>
            </a:solidFill>
          </a:ln>
        </c:spPr>
        <c:txPr>
          <a:bodyPr/>
          <a:lstStyle/>
          <a:p>
            <a:pPr>
              <a:defRPr sz="1400">
                <a:solidFill>
                  <a:srgbClr val="1F2A2A"/>
                </a:solidFill>
              </a:defRPr>
            </a:pPr>
          </a:p>
        </c:txPr>
        <c:crossAx val="-2113994440"/>
        <c:crosses val="autoZero"/>
        <c:auto val="1"/>
        <c:lblAlgn val="ctr"/>
        <c:lblOffset val="100"/>
        <c:noMultiLvlLbl val="0"/>
      </c:catAx>
      <c:valAx>
        <c:axId val="-2113994440"/>
        <c:scaling>
          <c:max val="260.0"/>
          <c:min val="0.0"/>
        </c:scaling>
        <c:delete/>
        <c:axPos val="b"/>
        <c:majorTickMark val="out"/>
        <c:minorTickMark val="none"/>
        <c:tickLblPos val="nextTo"/>
        <c:crossAx val="-2068027336"/>
        <c:crosses val="autoZero"/>
      </c:valAx>
    </c:plotArea>
    <c:dispBlanksAs val="gap"/>
  </c:chart>
  <c:txPr>
    <a:bodyPr/>
    <a:lstStyle/>
    <a:p>
      <a:pPr>
        <a:defRPr sz="1400">
          <a:solidFill>
            <a:srgbClr val="5E6B6B"/>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This briefing explains what we learned by grouping two years of customers by how they shop, and what we recommend doing about it. The technical detail is in a separate deck.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summary. We analysed every customer with an account over two years. They fall into four groups. One group, the Loyal Regulars, brings in 83 percent of sales. The recommendation follows directly: stop treating everyone the same.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Same emails and offers for everyone. That wastes money in two ways, shown on the left. On the right is why it matters: sales are heavily concentrated in a small number of customers.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card is one group. The large number is its share of customers. Loyal Regulars order often and recently. New Customers joined in roughly the last six months. Lapsed Customers bought once, over a year ago. Heavy Returners send back more than a third of what they buy.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chart compares each group's share of customers with its share of sales. Loyal Regulars are 37 percent of customers and 83 percent of sales. New and Lapsed customers together are 60 percent of customers and only 13 percent of sales.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strategy. One goal and a small set of actions per group. Keep the Loyal Regulars. Grow the New Customers into regulars. Win back Lapsed Customers cheaply, then stop spending. Understand the Heavy Returners before marketing to them.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return. These are illustrative scenarios, not forecasts. They are built from actual sales over two years, £17.1 million from customers with accounts, about £8.5 million a year. Each bar shows what one modest improvement would be worth. Campaign costs are not included, which is why we propose a pilot first.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risks. First, group borders are not sharp. Second, the analysis found that overseas customers can be undervalued because they place fewer, larger orders; a simple rule fixes most of that. Third, guest checkouts are invisible to us. Fourth, the picture goes out of date. Note the fairness check could only be done by country, because the data holds nothing on age, gender or ethnicity.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plan. Thirty days to set up, thirty to run a controlled pilot, thirty to decide. The control group is the important part: it is how we find out whether tailored marketing actually works better than what we do today.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ask. Approve the pilot, adopt the safety net rule for perks, and name an owner for keeping the groups up to date. On the right are the four measures we will report back on, each with a proposed target. The 90 and 34 percent figures are what happened in the data with no special marketing: 90 percent of the top fifth of spenders bought again the following year, and 34 percent of customers who had gone quiet for six months came back on their own. The targets are proposals for discussion.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3D3E"/>
        </a:solidFill>
        <a:effectLst/>
      </p:bgPr>
    </p:bg>
    <p:spTree>
      <p:nvGrpSpPr>
        <p:cNvPr id="1" name=""/>
        <p:cNvGrpSpPr/>
        <p:nvPr/>
      </p:nvGrpSpPr>
      <p:grpSpPr/>
      <p:sp>
        <p:nvSpPr>
          <p:cNvPr id="2" name="Title 1"/>
          <p:cNvSpPr>
            <a:spLocks noGrp="1"/>
          </p:cNvSpPr>
          <p:nvPr>
            <p:ph type="title"/>
          </p:nvPr>
        </p:nvSpPr>
        <p:spPr>
          <a:xfrm>
            <a:off x="640080" y="2103120"/>
            <a:ext cx="6583680" cy="1737360"/>
          </a:xfrm>
        </p:spPr>
        <p:txBody>
          <a:bodyPr wrap="square" anchor="t" lIns="0" rIns="0" tIns="0" bIns="0"/>
          <a:lstStyle/>
          <a:p>
            <a:pPr algn="l"/>
            <a:r>
              <a:rPr sz="4400" b="1">
                <a:solidFill>
                  <a:srgbClr val="FFFFFF"/>
                </a:solidFill>
                <a:latin typeface="Cambria"/>
              </a:rPr>
              <a:t>Know your customers, grow your sales</a:t>
            </a:r>
          </a:p>
        </p:txBody>
      </p:sp>
      <p:sp>
        <p:nvSpPr>
          <p:cNvPr id="3" name="TextBox 2"/>
          <p:cNvSpPr txBox="1"/>
          <p:nvPr/>
        </p:nvSpPr>
        <p:spPr>
          <a:xfrm>
            <a:off x="640080" y="3977639"/>
            <a:ext cx="6400800" cy="822960"/>
          </a:xfrm>
          <a:prstGeom prst="rect">
            <a:avLst/>
          </a:prstGeom>
          <a:noFill/>
        </p:spPr>
        <p:txBody>
          <a:bodyPr wrap="square" anchor="t" lIns="0" rIns="0" tIns="0" bIns="0">
            <a:spAutoFit/>
          </a:bodyPr>
          <a:lstStyle/>
          <a:p>
            <a:pPr algn="l"/>
            <a:r>
              <a:rPr sz="2000" b="0">
                <a:solidFill>
                  <a:srgbClr val="B9D3D1"/>
                </a:solidFill>
                <a:latin typeface="Calibri"/>
              </a:rPr>
              <a:t>Customer segmentation for an online gift retailer</a:t>
            </a:r>
          </a:p>
        </p:txBody>
      </p:sp>
      <p:sp>
        <p:nvSpPr>
          <p:cNvPr id="4" name="TextBox 3"/>
          <p:cNvSpPr txBox="1"/>
          <p:nvPr/>
        </p:nvSpPr>
        <p:spPr>
          <a:xfrm>
            <a:off x="640080" y="5669280"/>
            <a:ext cx="6400800" cy="640080"/>
          </a:xfrm>
          <a:prstGeom prst="rect">
            <a:avLst/>
          </a:prstGeom>
          <a:noFill/>
        </p:spPr>
        <p:txBody>
          <a:bodyPr wrap="square" anchor="t" lIns="0" rIns="0" tIns="0" bIns="0">
            <a:spAutoFit/>
          </a:bodyPr>
          <a:lstStyle/>
          <a:p>
            <a:pPr algn="l"/>
            <a:r>
              <a:rPr sz="1400" b="1">
                <a:solidFill>
                  <a:srgbClr val="FFFFFF"/>
                </a:solidFill>
                <a:latin typeface="Calibri"/>
              </a:rPr>
              <a:t>Frederick Halog</a:t>
            </a:r>
            <a:r>
              <a:rPr sz="1400" b="0">
                <a:solidFill>
                  <a:srgbClr val="B9D3D1"/>
                </a:solidFill>
                <a:latin typeface="Calibri"/>
              </a:rPr>
              <a:t>   |   AIM Capstone Project   |   Business briefing</a:t>
            </a:r>
          </a:p>
        </p:txBody>
      </p:sp>
      <p:sp>
        <p:nvSpPr>
          <p:cNvPr id="5" name="Headline stat card"/>
          <p:cNvSpPr/>
          <p:nvPr/>
        </p:nvSpPr>
        <p:spPr>
          <a:xfrm>
            <a:off x="7863840" y="1737360"/>
            <a:ext cx="3657600" cy="3383280"/>
          </a:xfrm>
          <a:prstGeom prst="roundRect">
            <a:avLst>
              <a:gd name="adj" fmla="val 6000"/>
            </a:avLst>
          </a:prstGeom>
          <a:solidFill>
            <a:srgbClr val="1B7F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0" y="2011680"/>
            <a:ext cx="3657600" cy="1371600"/>
          </a:xfrm>
          <a:prstGeom prst="rect">
            <a:avLst/>
          </a:prstGeom>
          <a:noFill/>
        </p:spPr>
        <p:txBody>
          <a:bodyPr wrap="square" anchor="t" lIns="0" rIns="0" tIns="0" bIns="0">
            <a:spAutoFit/>
          </a:bodyPr>
          <a:lstStyle/>
          <a:p>
            <a:pPr algn="ctr"/>
            <a:r>
              <a:rPr sz="8800" b="1">
                <a:solidFill>
                  <a:srgbClr val="FFFFFF"/>
                </a:solidFill>
                <a:latin typeface="Cambria"/>
              </a:rPr>
              <a:t>83%</a:t>
            </a:r>
          </a:p>
        </p:txBody>
      </p:sp>
      <p:sp>
        <p:nvSpPr>
          <p:cNvPr id="7" name="TextBox 6"/>
          <p:cNvSpPr txBox="1"/>
          <p:nvPr/>
        </p:nvSpPr>
        <p:spPr>
          <a:xfrm>
            <a:off x="8229600" y="3611880"/>
            <a:ext cx="2926080" cy="1188720"/>
          </a:xfrm>
          <a:prstGeom prst="rect">
            <a:avLst/>
          </a:prstGeom>
          <a:noFill/>
        </p:spPr>
        <p:txBody>
          <a:bodyPr wrap="square" anchor="t" lIns="0" rIns="0" tIns="0" bIns="0">
            <a:spAutoFit/>
          </a:bodyPr>
          <a:lstStyle/>
          <a:p>
            <a:pPr algn="ctr"/>
            <a:r>
              <a:rPr sz="2000" b="0">
                <a:solidFill>
                  <a:srgbClr val="FFFFFF"/>
                </a:solidFill>
                <a:latin typeface="Calibri"/>
              </a:rPr>
              <a:t>of sales come from just 37% of customers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40080" y="457200"/>
            <a:ext cx="10911535" cy="1143000"/>
          </a:xfrm>
        </p:spPr>
        <p:txBody>
          <a:bodyPr wrap="square" anchor="t" lIns="0" rIns="0" tIns="0" bIns="0"/>
          <a:lstStyle/>
          <a:p>
            <a:pPr algn="l"/>
            <a:r>
              <a:rPr sz="3400" b="1">
                <a:solidFill>
                  <a:srgbClr val="0F3D3E"/>
                </a:solidFill>
                <a:latin typeface="Cambria"/>
              </a:rPr>
              <a:t>Four customer groups, one clear priority</a:t>
            </a:r>
          </a:p>
        </p:txBody>
      </p:sp>
      <p:sp>
        <p:nvSpPr>
          <p:cNvPr id="3" name="Stat card 1"/>
          <p:cNvSpPr/>
          <p:nvPr/>
        </p:nvSpPr>
        <p:spPr>
          <a:xfrm>
            <a:off x="640080" y="1783080"/>
            <a:ext cx="3474720" cy="2331720"/>
          </a:xfrm>
          <a:prstGeom prst="roundRect">
            <a:avLst>
              <a:gd name="adj" fmla="val 6000"/>
            </a:avLst>
          </a:prstGeom>
          <a:solidFill>
            <a:srgbClr val="E8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920240"/>
            <a:ext cx="2926080" cy="1097280"/>
          </a:xfrm>
          <a:prstGeom prst="rect">
            <a:avLst/>
          </a:prstGeom>
          <a:noFill/>
        </p:spPr>
        <p:txBody>
          <a:bodyPr wrap="square" anchor="t" lIns="0" rIns="0" tIns="0" bIns="0">
            <a:spAutoFit/>
          </a:bodyPr>
          <a:lstStyle/>
          <a:p>
            <a:pPr algn="l"/>
            <a:r>
              <a:rPr sz="6000" b="1">
                <a:solidFill>
                  <a:srgbClr val="0F3D3E"/>
                </a:solidFill>
                <a:latin typeface="Cambria"/>
              </a:rPr>
              <a:t>5,852</a:t>
            </a:r>
          </a:p>
        </p:txBody>
      </p:sp>
      <p:sp>
        <p:nvSpPr>
          <p:cNvPr id="5" name="TextBox 4"/>
          <p:cNvSpPr txBox="1"/>
          <p:nvPr/>
        </p:nvSpPr>
        <p:spPr>
          <a:xfrm>
            <a:off x="914400" y="3108960"/>
            <a:ext cx="2926080" cy="868680"/>
          </a:xfrm>
          <a:prstGeom prst="rect">
            <a:avLst/>
          </a:prstGeom>
          <a:noFill/>
        </p:spPr>
        <p:txBody>
          <a:bodyPr wrap="square" anchor="t" lIns="0" rIns="0" tIns="0" bIns="0">
            <a:spAutoFit/>
          </a:bodyPr>
          <a:lstStyle/>
          <a:p>
            <a:pPr algn="l"/>
            <a:r>
              <a:rPr sz="1600" b="0">
                <a:solidFill>
                  <a:srgbClr val="1F2A2A"/>
                </a:solidFill>
                <a:latin typeface="Calibri"/>
              </a:rPr>
              <a:t>customers analysed across two years of sales</a:t>
            </a:r>
          </a:p>
        </p:txBody>
      </p:sp>
      <p:sp>
        <p:nvSpPr>
          <p:cNvPr id="6" name="Stat card 2"/>
          <p:cNvSpPr/>
          <p:nvPr/>
        </p:nvSpPr>
        <p:spPr>
          <a:xfrm>
            <a:off x="4343400" y="1783080"/>
            <a:ext cx="3474720" cy="2331720"/>
          </a:xfrm>
          <a:prstGeom prst="roundRect">
            <a:avLst>
              <a:gd name="adj" fmla="val 6000"/>
            </a:avLst>
          </a:prstGeom>
          <a:solidFill>
            <a:srgbClr val="E8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920240"/>
            <a:ext cx="2926080" cy="1097280"/>
          </a:xfrm>
          <a:prstGeom prst="rect">
            <a:avLst/>
          </a:prstGeom>
          <a:noFill/>
        </p:spPr>
        <p:txBody>
          <a:bodyPr wrap="square" anchor="t" lIns="0" rIns="0" tIns="0" bIns="0">
            <a:spAutoFit/>
          </a:bodyPr>
          <a:lstStyle/>
          <a:p>
            <a:pPr algn="l"/>
            <a:r>
              <a:rPr sz="6000" b="1">
                <a:solidFill>
                  <a:srgbClr val="0F3D3E"/>
                </a:solidFill>
                <a:latin typeface="Cambria"/>
              </a:rPr>
              <a:t>4</a:t>
            </a:r>
          </a:p>
        </p:txBody>
      </p:sp>
      <p:sp>
        <p:nvSpPr>
          <p:cNvPr id="8" name="TextBox 7"/>
          <p:cNvSpPr txBox="1"/>
          <p:nvPr/>
        </p:nvSpPr>
        <p:spPr>
          <a:xfrm>
            <a:off x="4617720" y="3108960"/>
            <a:ext cx="2926080" cy="868680"/>
          </a:xfrm>
          <a:prstGeom prst="rect">
            <a:avLst/>
          </a:prstGeom>
          <a:noFill/>
        </p:spPr>
        <p:txBody>
          <a:bodyPr wrap="square" anchor="t" lIns="0" rIns="0" tIns="0" bIns="0">
            <a:spAutoFit/>
          </a:bodyPr>
          <a:lstStyle/>
          <a:p>
            <a:pPr algn="l"/>
            <a:r>
              <a:rPr sz="1600" b="0">
                <a:solidFill>
                  <a:srgbClr val="1F2A2A"/>
                </a:solidFill>
                <a:latin typeface="Calibri"/>
              </a:rPr>
              <a:t>distinct groups, based on how people actually shop</a:t>
            </a:r>
          </a:p>
        </p:txBody>
      </p:sp>
      <p:sp>
        <p:nvSpPr>
          <p:cNvPr id="9" name="Stat card 3"/>
          <p:cNvSpPr/>
          <p:nvPr/>
        </p:nvSpPr>
        <p:spPr>
          <a:xfrm>
            <a:off x="8046719" y="1783080"/>
            <a:ext cx="3474720" cy="2331720"/>
          </a:xfrm>
          <a:prstGeom prst="roundRect">
            <a:avLst>
              <a:gd name="adj" fmla="val 6000"/>
            </a:avLst>
          </a:prstGeom>
          <a:solidFill>
            <a:srgbClr val="E8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0" y="1920240"/>
            <a:ext cx="2926080" cy="1097280"/>
          </a:xfrm>
          <a:prstGeom prst="rect">
            <a:avLst/>
          </a:prstGeom>
          <a:noFill/>
        </p:spPr>
        <p:txBody>
          <a:bodyPr wrap="square" anchor="t" lIns="0" rIns="0" tIns="0" bIns="0">
            <a:spAutoFit/>
          </a:bodyPr>
          <a:lstStyle/>
          <a:p>
            <a:pPr algn="l"/>
            <a:r>
              <a:rPr sz="6000" b="1">
                <a:solidFill>
                  <a:srgbClr val="E2725B"/>
                </a:solidFill>
                <a:latin typeface="Cambria"/>
              </a:rPr>
              <a:t>83%</a:t>
            </a:r>
          </a:p>
        </p:txBody>
      </p:sp>
      <p:sp>
        <p:nvSpPr>
          <p:cNvPr id="11" name="TextBox 10"/>
          <p:cNvSpPr txBox="1"/>
          <p:nvPr/>
        </p:nvSpPr>
        <p:spPr>
          <a:xfrm>
            <a:off x="8321040" y="3108960"/>
            <a:ext cx="2926080" cy="868680"/>
          </a:xfrm>
          <a:prstGeom prst="rect">
            <a:avLst/>
          </a:prstGeom>
          <a:noFill/>
        </p:spPr>
        <p:txBody>
          <a:bodyPr wrap="square" anchor="t" lIns="0" rIns="0" tIns="0" bIns="0">
            <a:spAutoFit/>
          </a:bodyPr>
          <a:lstStyle/>
          <a:p>
            <a:pPr algn="l"/>
            <a:r>
              <a:rPr sz="1600" b="0">
                <a:solidFill>
                  <a:srgbClr val="1F2A2A"/>
                </a:solidFill>
                <a:latin typeface="Calibri"/>
              </a:rPr>
              <a:t>of sales come from one group: the Loyal Regulars</a:t>
            </a:r>
          </a:p>
        </p:txBody>
      </p:sp>
      <p:sp>
        <p:nvSpPr>
          <p:cNvPr id="12" name="Recommendation card"/>
          <p:cNvSpPr/>
          <p:nvPr/>
        </p:nvSpPr>
        <p:spPr>
          <a:xfrm>
            <a:off x="640080" y="4480560"/>
            <a:ext cx="10908792" cy="1600200"/>
          </a:xfrm>
          <a:prstGeom prst="roundRect">
            <a:avLst>
              <a:gd name="adj" fmla="val 6000"/>
            </a:avLst>
          </a:prstGeom>
          <a:solidFill>
            <a:srgbClr val="0F3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663440"/>
            <a:ext cx="10149840" cy="1280160"/>
          </a:xfrm>
          <a:prstGeom prst="rect">
            <a:avLst/>
          </a:prstGeom>
          <a:noFill/>
        </p:spPr>
        <p:txBody>
          <a:bodyPr wrap="square" anchor="t" lIns="0" rIns="0" tIns="0" bIns="0">
            <a:spAutoFit/>
          </a:bodyPr>
          <a:lstStyle/>
          <a:p>
            <a:pPr algn="l">
              <a:spcAft>
                <a:spcPts val="400"/>
              </a:spcAft>
            </a:pPr>
            <a:r>
              <a:rPr sz="1800" b="1">
                <a:solidFill>
                  <a:srgbClr val="FFFFFF"/>
                </a:solidFill>
                <a:latin typeface="Calibri"/>
              </a:rPr>
              <a:t>Recommendation</a:t>
            </a:r>
          </a:p>
          <a:p>
            <a:pPr algn="l">
              <a:spcAft>
                <a:spcPts val="400"/>
              </a:spcAft>
            </a:pPr>
            <a:r>
              <a:rPr sz="1600" b="0">
                <a:solidFill>
                  <a:srgbClr val="B9D3D1"/>
                </a:solidFill>
                <a:latin typeface="Calibri"/>
              </a:rPr>
              <a:t>Stop marketing to everyone the same way. Protect the Loyal Regulars, grow the New Customers, spend little on the Lapsed, and take a closer look at the Heavy Returners.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40080" y="457200"/>
            <a:ext cx="10911535" cy="1143000"/>
          </a:xfrm>
        </p:spPr>
        <p:txBody>
          <a:bodyPr wrap="square" anchor="t" lIns="0" rIns="0" tIns="0" bIns="0"/>
          <a:lstStyle/>
          <a:p>
            <a:pPr algn="l"/>
            <a:r>
              <a:rPr sz="3400" b="1">
                <a:solidFill>
                  <a:srgbClr val="0F3D3E"/>
                </a:solidFill>
                <a:latin typeface="Cambria"/>
              </a:rPr>
              <a:t>Today every customer gets the same treatment, and that wastes money</a:t>
            </a:r>
          </a:p>
        </p:txBody>
      </p:sp>
      <p:sp>
        <p:nvSpPr>
          <p:cNvPr id="3" name="Oval 2"/>
          <p:cNvSpPr/>
          <p:nvPr/>
        </p:nvSpPr>
        <p:spPr>
          <a:xfrm>
            <a:off x="640080" y="2103120"/>
            <a:ext cx="566928" cy="566928"/>
          </a:xfrm>
          <a:prstGeom prst="ellipse">
            <a:avLst/>
          </a:prstGeom>
          <a:solidFill>
            <a:srgbClr val="0F3D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1</a:t>
            </a:r>
          </a:p>
        </p:txBody>
      </p:sp>
      <p:sp>
        <p:nvSpPr>
          <p:cNvPr id="4" name="TextBox 3"/>
          <p:cNvSpPr txBox="1"/>
          <p:nvPr/>
        </p:nvSpPr>
        <p:spPr>
          <a:xfrm>
            <a:off x="1463040" y="2148839"/>
            <a:ext cx="5120640" cy="1554480"/>
          </a:xfrm>
          <a:prstGeom prst="rect">
            <a:avLst/>
          </a:prstGeom>
          <a:noFill/>
        </p:spPr>
        <p:txBody>
          <a:bodyPr wrap="square" anchor="t" lIns="0" rIns="0" tIns="0" bIns="0">
            <a:spAutoFit/>
          </a:bodyPr>
          <a:lstStyle/>
          <a:p>
            <a:pPr algn="l">
              <a:spcAft>
                <a:spcPts val="500"/>
              </a:spcAft>
            </a:pPr>
            <a:r>
              <a:rPr sz="2000" b="1">
                <a:solidFill>
                  <a:srgbClr val="0F3D3E"/>
                </a:solidFill>
                <a:latin typeface="Calibri"/>
              </a:rPr>
              <a:t>Discounts go to people who would have bought anyway</a:t>
            </a:r>
          </a:p>
          <a:p>
            <a:pPr algn="l">
              <a:spcAft>
                <a:spcPts val="500"/>
              </a:spcAft>
            </a:pPr>
            <a:r>
              <a:rPr sz="1600" b="0">
                <a:solidFill>
                  <a:srgbClr val="5E6B6B"/>
                </a:solidFill>
                <a:latin typeface="Calibri"/>
              </a:rPr>
              <a:t>Every blanket offer gives margin away to customers who needed no persuading.</a:t>
            </a:r>
          </a:p>
        </p:txBody>
      </p:sp>
      <p:sp>
        <p:nvSpPr>
          <p:cNvPr id="5" name="Oval 4"/>
          <p:cNvSpPr/>
          <p:nvPr/>
        </p:nvSpPr>
        <p:spPr>
          <a:xfrm>
            <a:off x="640080" y="3886200"/>
            <a:ext cx="566928" cy="566928"/>
          </a:xfrm>
          <a:prstGeom prst="ellipse">
            <a:avLst/>
          </a:prstGeom>
          <a:solidFill>
            <a:srgbClr val="0F3D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2</a:t>
            </a:r>
          </a:p>
        </p:txBody>
      </p:sp>
      <p:sp>
        <p:nvSpPr>
          <p:cNvPr id="6" name="TextBox 5"/>
          <p:cNvSpPr txBox="1"/>
          <p:nvPr/>
        </p:nvSpPr>
        <p:spPr>
          <a:xfrm>
            <a:off x="1463040" y="3931920"/>
            <a:ext cx="5120640" cy="1554480"/>
          </a:xfrm>
          <a:prstGeom prst="rect">
            <a:avLst/>
          </a:prstGeom>
          <a:noFill/>
        </p:spPr>
        <p:txBody>
          <a:bodyPr wrap="square" anchor="t" lIns="0" rIns="0" tIns="0" bIns="0">
            <a:spAutoFit/>
          </a:bodyPr>
          <a:lstStyle/>
          <a:p>
            <a:pPr algn="l">
              <a:spcAft>
                <a:spcPts val="500"/>
              </a:spcAft>
            </a:pPr>
            <a:r>
              <a:rPr sz="2000" b="1">
                <a:solidFill>
                  <a:srgbClr val="0F3D3E"/>
                </a:solidFill>
                <a:latin typeface="Calibri"/>
              </a:rPr>
              <a:t>The best customers get no special attention</a:t>
            </a:r>
          </a:p>
          <a:p>
            <a:pPr algn="l">
              <a:spcAft>
                <a:spcPts val="500"/>
              </a:spcAft>
            </a:pPr>
            <a:r>
              <a:rPr sz="1600" b="0">
                <a:solidFill>
                  <a:srgbClr val="5E6B6B"/>
                </a:solidFill>
                <a:latin typeface="Calibri"/>
              </a:rPr>
              <a:t>Neither do the ones quietly drifting away. Nobody is watching either group.</a:t>
            </a:r>
          </a:p>
        </p:txBody>
      </p:sp>
      <p:sp>
        <p:nvSpPr>
          <p:cNvPr id="7" name="Concentration stat 1"/>
          <p:cNvSpPr/>
          <p:nvPr/>
        </p:nvSpPr>
        <p:spPr>
          <a:xfrm>
            <a:off x="7223760" y="1920240"/>
            <a:ext cx="4325112" cy="1828800"/>
          </a:xfrm>
          <a:prstGeom prst="roundRect">
            <a:avLst>
              <a:gd name="adj" fmla="val 6000"/>
            </a:avLst>
          </a:prstGeom>
          <a:solidFill>
            <a:srgbClr val="E8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79" y="2194560"/>
            <a:ext cx="1737360" cy="1280160"/>
          </a:xfrm>
          <a:prstGeom prst="rect">
            <a:avLst/>
          </a:prstGeom>
          <a:noFill/>
        </p:spPr>
        <p:txBody>
          <a:bodyPr wrap="square" anchor="ctr" lIns="0" rIns="0" tIns="0" bIns="0">
            <a:spAutoFit/>
          </a:bodyPr>
          <a:lstStyle/>
          <a:p>
            <a:pPr algn="l"/>
            <a:r>
              <a:rPr sz="5400" b="1">
                <a:solidFill>
                  <a:srgbClr val="0F3D3E"/>
                </a:solidFill>
                <a:latin typeface="Cambria"/>
              </a:rPr>
              <a:t>77%</a:t>
            </a:r>
          </a:p>
        </p:txBody>
      </p:sp>
      <p:sp>
        <p:nvSpPr>
          <p:cNvPr id="9" name="TextBox 8"/>
          <p:cNvSpPr txBox="1"/>
          <p:nvPr/>
        </p:nvSpPr>
        <p:spPr>
          <a:xfrm>
            <a:off x="9326880" y="2194560"/>
            <a:ext cx="2011680" cy="1280160"/>
          </a:xfrm>
          <a:prstGeom prst="rect">
            <a:avLst/>
          </a:prstGeom>
          <a:noFill/>
        </p:spPr>
        <p:txBody>
          <a:bodyPr wrap="square" anchor="ctr" lIns="0" rIns="0" tIns="0" bIns="0">
            <a:spAutoFit/>
          </a:bodyPr>
          <a:lstStyle/>
          <a:p>
            <a:pPr algn="l"/>
            <a:r>
              <a:rPr sz="1600" b="0">
                <a:solidFill>
                  <a:srgbClr val="1F2A2A"/>
                </a:solidFill>
                <a:latin typeface="Calibri"/>
              </a:rPr>
              <a:t>of sales come from the top 20% of customers</a:t>
            </a:r>
          </a:p>
        </p:txBody>
      </p:sp>
      <p:sp>
        <p:nvSpPr>
          <p:cNvPr id="10" name="Concentration stat 2"/>
          <p:cNvSpPr/>
          <p:nvPr/>
        </p:nvSpPr>
        <p:spPr>
          <a:xfrm>
            <a:off x="7223760" y="3977639"/>
            <a:ext cx="4325112" cy="1828800"/>
          </a:xfrm>
          <a:prstGeom prst="roundRect">
            <a:avLst>
              <a:gd name="adj" fmla="val 6000"/>
            </a:avLst>
          </a:prstGeom>
          <a:solidFill>
            <a:srgbClr val="E8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79" y="4251959"/>
            <a:ext cx="1737360" cy="1280160"/>
          </a:xfrm>
          <a:prstGeom prst="rect">
            <a:avLst/>
          </a:prstGeom>
          <a:noFill/>
        </p:spPr>
        <p:txBody>
          <a:bodyPr wrap="square" anchor="ctr" lIns="0" rIns="0" tIns="0" bIns="0">
            <a:spAutoFit/>
          </a:bodyPr>
          <a:lstStyle/>
          <a:p>
            <a:pPr algn="l"/>
            <a:r>
              <a:rPr sz="5400" b="1">
                <a:solidFill>
                  <a:srgbClr val="0F3D3E"/>
                </a:solidFill>
                <a:latin typeface="Cambria"/>
              </a:rPr>
              <a:t>32%</a:t>
            </a:r>
          </a:p>
        </p:txBody>
      </p:sp>
      <p:sp>
        <p:nvSpPr>
          <p:cNvPr id="12" name="TextBox 11"/>
          <p:cNvSpPr txBox="1"/>
          <p:nvPr/>
        </p:nvSpPr>
        <p:spPr>
          <a:xfrm>
            <a:off x="9326880" y="4251959"/>
            <a:ext cx="2011680" cy="1280160"/>
          </a:xfrm>
          <a:prstGeom prst="rect">
            <a:avLst/>
          </a:prstGeom>
          <a:noFill/>
        </p:spPr>
        <p:txBody>
          <a:bodyPr wrap="square" anchor="ctr" lIns="0" rIns="0" tIns="0" bIns="0">
            <a:spAutoFit/>
          </a:bodyPr>
          <a:lstStyle/>
          <a:p>
            <a:pPr algn="l"/>
            <a:r>
              <a:rPr sz="1600" b="0">
                <a:solidFill>
                  <a:srgbClr val="1F2A2A"/>
                </a:solidFill>
                <a:latin typeface="Calibri"/>
              </a:rPr>
              <a:t>of sales come from just 58 customers, the top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40080" y="457200"/>
            <a:ext cx="10911535" cy="1143000"/>
          </a:xfrm>
        </p:spPr>
        <p:txBody>
          <a:bodyPr wrap="square" anchor="t" lIns="0" rIns="0" tIns="0" bIns="0"/>
          <a:lstStyle/>
          <a:p>
            <a:pPr algn="l"/>
            <a:r>
              <a:rPr sz="3400" b="1">
                <a:solidFill>
                  <a:srgbClr val="0F3D3E"/>
                </a:solidFill>
                <a:latin typeface="Cambria"/>
              </a:rPr>
              <a:t>Meet the four customer groups</a:t>
            </a:r>
          </a:p>
        </p:txBody>
      </p:sp>
      <p:sp>
        <p:nvSpPr>
          <p:cNvPr id="3" name="Group card: Loyal Regulars"/>
          <p:cNvSpPr/>
          <p:nvPr/>
        </p:nvSpPr>
        <p:spPr>
          <a:xfrm>
            <a:off x="640080" y="1783080"/>
            <a:ext cx="2596896" cy="4343400"/>
          </a:xfrm>
          <a:prstGeom prst="roundRect">
            <a:avLst>
              <a:gd name="adj" fmla="val 6000"/>
            </a:avLst>
          </a:prstGeom>
          <a:solidFill>
            <a:srgbClr val="0F3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965960"/>
            <a:ext cx="2194560" cy="457200"/>
          </a:xfrm>
          <a:prstGeom prst="rect">
            <a:avLst/>
          </a:prstGeom>
          <a:noFill/>
        </p:spPr>
        <p:txBody>
          <a:bodyPr wrap="square" anchor="t" lIns="0" rIns="0" tIns="0" bIns="0">
            <a:spAutoFit/>
          </a:bodyPr>
          <a:lstStyle/>
          <a:p>
            <a:pPr algn="l"/>
            <a:r>
              <a:rPr sz="1800" b="1">
                <a:solidFill>
                  <a:srgbClr val="FFFFFF"/>
                </a:solidFill>
                <a:latin typeface="Calibri"/>
              </a:rPr>
              <a:t>Loyal Regulars</a:t>
            </a:r>
          </a:p>
        </p:txBody>
      </p:sp>
      <p:sp>
        <p:nvSpPr>
          <p:cNvPr id="5" name="TextBox 4"/>
          <p:cNvSpPr txBox="1"/>
          <p:nvPr/>
        </p:nvSpPr>
        <p:spPr>
          <a:xfrm>
            <a:off x="868680" y="2423160"/>
            <a:ext cx="2194560" cy="1005840"/>
          </a:xfrm>
          <a:prstGeom prst="rect">
            <a:avLst/>
          </a:prstGeom>
          <a:noFill/>
        </p:spPr>
        <p:txBody>
          <a:bodyPr wrap="square" anchor="t" lIns="0" rIns="0" tIns="0" bIns="0">
            <a:spAutoFit/>
          </a:bodyPr>
          <a:lstStyle/>
          <a:p>
            <a:pPr algn="l"/>
            <a:r>
              <a:rPr sz="5400" b="1">
                <a:solidFill>
                  <a:srgbClr val="FFFFFF"/>
                </a:solidFill>
                <a:latin typeface="Cambria"/>
              </a:rPr>
              <a:t>37%</a:t>
            </a:r>
          </a:p>
        </p:txBody>
      </p:sp>
      <p:sp>
        <p:nvSpPr>
          <p:cNvPr id="6" name="TextBox 5"/>
          <p:cNvSpPr txBox="1"/>
          <p:nvPr/>
        </p:nvSpPr>
        <p:spPr>
          <a:xfrm>
            <a:off x="868680" y="3474720"/>
            <a:ext cx="2194560" cy="365760"/>
          </a:xfrm>
          <a:prstGeom prst="rect">
            <a:avLst/>
          </a:prstGeom>
          <a:noFill/>
        </p:spPr>
        <p:txBody>
          <a:bodyPr wrap="square" anchor="t" lIns="0" rIns="0" tIns="0" bIns="0">
            <a:spAutoFit/>
          </a:bodyPr>
          <a:lstStyle/>
          <a:p>
            <a:pPr algn="l"/>
            <a:r>
              <a:rPr sz="1400" b="0">
                <a:solidFill>
                  <a:srgbClr val="B9D3D1"/>
                </a:solidFill>
                <a:latin typeface="Calibri"/>
              </a:rPr>
              <a:t>2,137 customers</a:t>
            </a:r>
          </a:p>
        </p:txBody>
      </p:sp>
      <p:sp>
        <p:nvSpPr>
          <p:cNvPr id="7" name="TextBox 6"/>
          <p:cNvSpPr txBox="1"/>
          <p:nvPr/>
        </p:nvSpPr>
        <p:spPr>
          <a:xfrm>
            <a:off x="868680" y="3931920"/>
            <a:ext cx="2194560" cy="1371600"/>
          </a:xfrm>
          <a:prstGeom prst="rect">
            <a:avLst/>
          </a:prstGeom>
          <a:noFill/>
        </p:spPr>
        <p:txBody>
          <a:bodyPr wrap="square" anchor="t" lIns="0" rIns="0" tIns="0" bIns="0">
            <a:spAutoFit/>
          </a:bodyPr>
          <a:lstStyle/>
          <a:p>
            <a:pPr algn="l"/>
            <a:r>
              <a:rPr sz="1500" b="0">
                <a:solidFill>
                  <a:srgbClr val="FFFFFF"/>
                </a:solidFill>
                <a:latin typeface="Calibri"/>
              </a:rPr>
              <a:t>9 orders and £2,976 spent. Last bought within the past month.</a:t>
            </a:r>
          </a:p>
        </p:txBody>
      </p:sp>
      <p:sp>
        <p:nvSpPr>
          <p:cNvPr id="8" name="TextBox 7"/>
          <p:cNvSpPr txBox="1"/>
          <p:nvPr/>
        </p:nvSpPr>
        <p:spPr>
          <a:xfrm>
            <a:off x="868680" y="5440680"/>
            <a:ext cx="2194560" cy="457200"/>
          </a:xfrm>
          <a:prstGeom prst="rect">
            <a:avLst/>
          </a:prstGeom>
          <a:noFill/>
        </p:spPr>
        <p:txBody>
          <a:bodyPr wrap="square" anchor="t" lIns="0" rIns="0" tIns="0" bIns="0">
            <a:spAutoFit/>
          </a:bodyPr>
          <a:lstStyle/>
          <a:p>
            <a:pPr algn="l"/>
            <a:r>
              <a:rPr sz="1800" b="1">
                <a:solidFill>
                  <a:srgbClr val="E2725B"/>
                </a:solidFill>
                <a:latin typeface="Calibri"/>
              </a:rPr>
              <a:t>83% of sales</a:t>
            </a:r>
          </a:p>
        </p:txBody>
      </p:sp>
      <p:sp>
        <p:nvSpPr>
          <p:cNvPr id="9" name="Group card: New Customers"/>
          <p:cNvSpPr/>
          <p:nvPr/>
        </p:nvSpPr>
        <p:spPr>
          <a:xfrm>
            <a:off x="3410711" y="1783080"/>
            <a:ext cx="2596896" cy="4343400"/>
          </a:xfrm>
          <a:prstGeom prst="roundRect">
            <a:avLst>
              <a:gd name="adj" fmla="val 6000"/>
            </a:avLst>
          </a:prstGeom>
          <a:solidFill>
            <a:srgbClr val="E8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39311" y="1965960"/>
            <a:ext cx="2194560" cy="457200"/>
          </a:xfrm>
          <a:prstGeom prst="rect">
            <a:avLst/>
          </a:prstGeom>
          <a:noFill/>
        </p:spPr>
        <p:txBody>
          <a:bodyPr wrap="square" anchor="t" lIns="0" rIns="0" tIns="0" bIns="0">
            <a:spAutoFit/>
          </a:bodyPr>
          <a:lstStyle/>
          <a:p>
            <a:pPr algn="l"/>
            <a:r>
              <a:rPr sz="1800" b="1">
                <a:solidFill>
                  <a:srgbClr val="0F3D3E"/>
                </a:solidFill>
                <a:latin typeface="Calibri"/>
              </a:rPr>
              <a:t>New Customers</a:t>
            </a:r>
          </a:p>
        </p:txBody>
      </p:sp>
      <p:sp>
        <p:nvSpPr>
          <p:cNvPr id="11" name="TextBox 10"/>
          <p:cNvSpPr txBox="1"/>
          <p:nvPr/>
        </p:nvSpPr>
        <p:spPr>
          <a:xfrm>
            <a:off x="3639311" y="2423160"/>
            <a:ext cx="2194560" cy="1005840"/>
          </a:xfrm>
          <a:prstGeom prst="rect">
            <a:avLst/>
          </a:prstGeom>
          <a:noFill/>
        </p:spPr>
        <p:txBody>
          <a:bodyPr wrap="square" anchor="t" lIns="0" rIns="0" tIns="0" bIns="0">
            <a:spAutoFit/>
          </a:bodyPr>
          <a:lstStyle/>
          <a:p>
            <a:pPr algn="l"/>
            <a:r>
              <a:rPr sz="5400" b="1">
                <a:solidFill>
                  <a:srgbClr val="0F3D3E"/>
                </a:solidFill>
                <a:latin typeface="Cambria"/>
              </a:rPr>
              <a:t>29%</a:t>
            </a:r>
          </a:p>
        </p:txBody>
      </p:sp>
      <p:sp>
        <p:nvSpPr>
          <p:cNvPr id="12" name="TextBox 11"/>
          <p:cNvSpPr txBox="1"/>
          <p:nvPr/>
        </p:nvSpPr>
        <p:spPr>
          <a:xfrm>
            <a:off x="3639311" y="3474720"/>
            <a:ext cx="2194560" cy="365760"/>
          </a:xfrm>
          <a:prstGeom prst="rect">
            <a:avLst/>
          </a:prstGeom>
          <a:noFill/>
        </p:spPr>
        <p:txBody>
          <a:bodyPr wrap="square" anchor="t" lIns="0" rIns="0" tIns="0" bIns="0">
            <a:spAutoFit/>
          </a:bodyPr>
          <a:lstStyle/>
          <a:p>
            <a:pPr algn="l"/>
            <a:r>
              <a:rPr sz="1400" b="0">
                <a:solidFill>
                  <a:srgbClr val="5E6B6B"/>
                </a:solidFill>
                <a:latin typeface="Calibri"/>
              </a:rPr>
              <a:t>1,689 customers</a:t>
            </a:r>
          </a:p>
        </p:txBody>
      </p:sp>
      <p:sp>
        <p:nvSpPr>
          <p:cNvPr id="13" name="TextBox 12"/>
          <p:cNvSpPr txBox="1"/>
          <p:nvPr/>
        </p:nvSpPr>
        <p:spPr>
          <a:xfrm>
            <a:off x="3639311" y="3931920"/>
            <a:ext cx="2194560" cy="1371600"/>
          </a:xfrm>
          <a:prstGeom prst="rect">
            <a:avLst/>
          </a:prstGeom>
          <a:noFill/>
        </p:spPr>
        <p:txBody>
          <a:bodyPr wrap="square" anchor="t" lIns="0" rIns="0" tIns="0" bIns="0">
            <a:spAutoFit/>
          </a:bodyPr>
          <a:lstStyle/>
          <a:p>
            <a:pPr algn="l"/>
            <a:r>
              <a:rPr sz="1500" b="0">
                <a:solidFill>
                  <a:srgbClr val="1F2A2A"/>
                </a:solidFill>
                <a:latin typeface="Calibri"/>
              </a:rPr>
              <a:t>Joined about six months ago. 2 orders and £542 so far.</a:t>
            </a:r>
          </a:p>
        </p:txBody>
      </p:sp>
      <p:sp>
        <p:nvSpPr>
          <p:cNvPr id="14" name="TextBox 13"/>
          <p:cNvSpPr txBox="1"/>
          <p:nvPr/>
        </p:nvSpPr>
        <p:spPr>
          <a:xfrm>
            <a:off x="3639311" y="5440680"/>
            <a:ext cx="2194560" cy="457200"/>
          </a:xfrm>
          <a:prstGeom prst="rect">
            <a:avLst/>
          </a:prstGeom>
          <a:noFill/>
        </p:spPr>
        <p:txBody>
          <a:bodyPr wrap="square" anchor="t" lIns="0" rIns="0" tIns="0" bIns="0">
            <a:spAutoFit/>
          </a:bodyPr>
          <a:lstStyle/>
          <a:p>
            <a:pPr algn="l"/>
            <a:r>
              <a:rPr sz="1800" b="1">
                <a:solidFill>
                  <a:srgbClr val="E2725B"/>
                </a:solidFill>
                <a:latin typeface="Calibri"/>
              </a:rPr>
              <a:t>7% of sales</a:t>
            </a:r>
          </a:p>
        </p:txBody>
      </p:sp>
      <p:sp>
        <p:nvSpPr>
          <p:cNvPr id="15" name="Group card: Lapsed Customers"/>
          <p:cNvSpPr/>
          <p:nvPr/>
        </p:nvSpPr>
        <p:spPr>
          <a:xfrm>
            <a:off x="6181344" y="1783080"/>
            <a:ext cx="2596896" cy="4343400"/>
          </a:xfrm>
          <a:prstGeom prst="roundRect">
            <a:avLst>
              <a:gd name="adj" fmla="val 6000"/>
            </a:avLst>
          </a:prstGeom>
          <a:solidFill>
            <a:srgbClr val="E8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9944" y="1965960"/>
            <a:ext cx="2194560" cy="457200"/>
          </a:xfrm>
          <a:prstGeom prst="rect">
            <a:avLst/>
          </a:prstGeom>
          <a:noFill/>
        </p:spPr>
        <p:txBody>
          <a:bodyPr wrap="square" anchor="t" lIns="0" rIns="0" tIns="0" bIns="0">
            <a:spAutoFit/>
          </a:bodyPr>
          <a:lstStyle/>
          <a:p>
            <a:pPr algn="l"/>
            <a:r>
              <a:rPr sz="1800" b="1">
                <a:solidFill>
                  <a:srgbClr val="0F3D3E"/>
                </a:solidFill>
                <a:latin typeface="Calibri"/>
              </a:rPr>
              <a:t>Lapsed Customers</a:t>
            </a:r>
          </a:p>
        </p:txBody>
      </p:sp>
      <p:sp>
        <p:nvSpPr>
          <p:cNvPr id="17" name="TextBox 16"/>
          <p:cNvSpPr txBox="1"/>
          <p:nvPr/>
        </p:nvSpPr>
        <p:spPr>
          <a:xfrm>
            <a:off x="6409944" y="2423160"/>
            <a:ext cx="2194560" cy="1005840"/>
          </a:xfrm>
          <a:prstGeom prst="rect">
            <a:avLst/>
          </a:prstGeom>
          <a:noFill/>
        </p:spPr>
        <p:txBody>
          <a:bodyPr wrap="square" anchor="t" lIns="0" rIns="0" tIns="0" bIns="0">
            <a:spAutoFit/>
          </a:bodyPr>
          <a:lstStyle/>
          <a:p>
            <a:pPr algn="l"/>
            <a:r>
              <a:rPr sz="5400" b="1">
                <a:solidFill>
                  <a:srgbClr val="0F3D3E"/>
                </a:solidFill>
                <a:latin typeface="Cambria"/>
              </a:rPr>
              <a:t>31%</a:t>
            </a:r>
          </a:p>
        </p:txBody>
      </p:sp>
      <p:sp>
        <p:nvSpPr>
          <p:cNvPr id="18" name="TextBox 17"/>
          <p:cNvSpPr txBox="1"/>
          <p:nvPr/>
        </p:nvSpPr>
        <p:spPr>
          <a:xfrm>
            <a:off x="6409944" y="3474720"/>
            <a:ext cx="2194560" cy="365760"/>
          </a:xfrm>
          <a:prstGeom prst="rect">
            <a:avLst/>
          </a:prstGeom>
          <a:noFill/>
        </p:spPr>
        <p:txBody>
          <a:bodyPr wrap="square" anchor="t" lIns="0" rIns="0" tIns="0" bIns="0">
            <a:spAutoFit/>
          </a:bodyPr>
          <a:lstStyle/>
          <a:p>
            <a:pPr algn="l"/>
            <a:r>
              <a:rPr sz="1400" b="0">
                <a:solidFill>
                  <a:srgbClr val="5E6B6B"/>
                </a:solidFill>
                <a:latin typeface="Calibri"/>
              </a:rPr>
              <a:t>1,825 customers</a:t>
            </a:r>
          </a:p>
        </p:txBody>
      </p:sp>
      <p:sp>
        <p:nvSpPr>
          <p:cNvPr id="19" name="TextBox 18"/>
          <p:cNvSpPr txBox="1"/>
          <p:nvPr/>
        </p:nvSpPr>
        <p:spPr>
          <a:xfrm>
            <a:off x="6409944" y="3931920"/>
            <a:ext cx="2194560" cy="1371600"/>
          </a:xfrm>
          <a:prstGeom prst="rect">
            <a:avLst/>
          </a:prstGeom>
          <a:noFill/>
        </p:spPr>
        <p:txBody>
          <a:bodyPr wrap="square" anchor="t" lIns="0" rIns="0" tIns="0" bIns="0">
            <a:spAutoFit/>
          </a:bodyPr>
          <a:lstStyle/>
          <a:p>
            <a:pPr algn="l"/>
            <a:r>
              <a:rPr sz="1500" b="0">
                <a:solidFill>
                  <a:srgbClr val="1F2A2A"/>
                </a:solidFill>
                <a:latin typeface="Calibri"/>
              </a:rPr>
              <a:t>A single order of £358. Not seen for over a year.</a:t>
            </a:r>
          </a:p>
        </p:txBody>
      </p:sp>
      <p:sp>
        <p:nvSpPr>
          <p:cNvPr id="20" name="TextBox 19"/>
          <p:cNvSpPr txBox="1"/>
          <p:nvPr/>
        </p:nvSpPr>
        <p:spPr>
          <a:xfrm>
            <a:off x="6409944" y="5440680"/>
            <a:ext cx="2194560" cy="457200"/>
          </a:xfrm>
          <a:prstGeom prst="rect">
            <a:avLst/>
          </a:prstGeom>
          <a:noFill/>
        </p:spPr>
        <p:txBody>
          <a:bodyPr wrap="square" anchor="t" lIns="0" rIns="0" tIns="0" bIns="0">
            <a:spAutoFit/>
          </a:bodyPr>
          <a:lstStyle/>
          <a:p>
            <a:pPr algn="l"/>
            <a:r>
              <a:rPr sz="1800" b="1">
                <a:solidFill>
                  <a:srgbClr val="E2725B"/>
                </a:solidFill>
                <a:latin typeface="Calibri"/>
              </a:rPr>
              <a:t>6% of sales</a:t>
            </a:r>
          </a:p>
        </p:txBody>
      </p:sp>
      <p:sp>
        <p:nvSpPr>
          <p:cNvPr id="21" name="Group card: Heavy Returners"/>
          <p:cNvSpPr/>
          <p:nvPr/>
        </p:nvSpPr>
        <p:spPr>
          <a:xfrm>
            <a:off x="8951976" y="1783080"/>
            <a:ext cx="2596896" cy="4343400"/>
          </a:xfrm>
          <a:prstGeom prst="roundRect">
            <a:avLst>
              <a:gd name="adj" fmla="val 6000"/>
            </a:avLst>
          </a:prstGeom>
          <a:solidFill>
            <a:srgbClr val="E8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80576" y="1965960"/>
            <a:ext cx="2194560" cy="457200"/>
          </a:xfrm>
          <a:prstGeom prst="rect">
            <a:avLst/>
          </a:prstGeom>
          <a:noFill/>
        </p:spPr>
        <p:txBody>
          <a:bodyPr wrap="square" anchor="t" lIns="0" rIns="0" tIns="0" bIns="0">
            <a:spAutoFit/>
          </a:bodyPr>
          <a:lstStyle/>
          <a:p>
            <a:pPr algn="l"/>
            <a:r>
              <a:rPr sz="1800" b="1">
                <a:solidFill>
                  <a:srgbClr val="0F3D3E"/>
                </a:solidFill>
                <a:latin typeface="Calibri"/>
              </a:rPr>
              <a:t>Heavy Returners</a:t>
            </a:r>
          </a:p>
        </p:txBody>
      </p:sp>
      <p:sp>
        <p:nvSpPr>
          <p:cNvPr id="23" name="TextBox 22"/>
          <p:cNvSpPr txBox="1"/>
          <p:nvPr/>
        </p:nvSpPr>
        <p:spPr>
          <a:xfrm>
            <a:off x="9180576" y="2423160"/>
            <a:ext cx="2194560" cy="1005840"/>
          </a:xfrm>
          <a:prstGeom prst="rect">
            <a:avLst/>
          </a:prstGeom>
          <a:noFill/>
        </p:spPr>
        <p:txBody>
          <a:bodyPr wrap="square" anchor="t" lIns="0" rIns="0" tIns="0" bIns="0">
            <a:spAutoFit/>
          </a:bodyPr>
          <a:lstStyle/>
          <a:p>
            <a:pPr algn="l"/>
            <a:r>
              <a:rPr sz="5400" b="1">
                <a:solidFill>
                  <a:srgbClr val="0F3D3E"/>
                </a:solidFill>
                <a:latin typeface="Cambria"/>
              </a:rPr>
              <a:t>3%</a:t>
            </a:r>
          </a:p>
        </p:txBody>
      </p:sp>
      <p:sp>
        <p:nvSpPr>
          <p:cNvPr id="24" name="TextBox 23"/>
          <p:cNvSpPr txBox="1"/>
          <p:nvPr/>
        </p:nvSpPr>
        <p:spPr>
          <a:xfrm>
            <a:off x="9180576" y="3474720"/>
            <a:ext cx="2194560" cy="365760"/>
          </a:xfrm>
          <a:prstGeom prst="rect">
            <a:avLst/>
          </a:prstGeom>
          <a:noFill/>
        </p:spPr>
        <p:txBody>
          <a:bodyPr wrap="square" anchor="t" lIns="0" rIns="0" tIns="0" bIns="0">
            <a:spAutoFit/>
          </a:bodyPr>
          <a:lstStyle/>
          <a:p>
            <a:pPr algn="l"/>
            <a:r>
              <a:rPr sz="1400" b="0">
                <a:solidFill>
                  <a:srgbClr val="5E6B6B"/>
                </a:solidFill>
                <a:latin typeface="Calibri"/>
              </a:rPr>
              <a:t>201 customers</a:t>
            </a:r>
          </a:p>
        </p:txBody>
      </p:sp>
      <p:sp>
        <p:nvSpPr>
          <p:cNvPr id="25" name="TextBox 24"/>
          <p:cNvSpPr txBox="1"/>
          <p:nvPr/>
        </p:nvSpPr>
        <p:spPr>
          <a:xfrm>
            <a:off x="9180576" y="3931920"/>
            <a:ext cx="2194560" cy="1371600"/>
          </a:xfrm>
          <a:prstGeom prst="rect">
            <a:avLst/>
          </a:prstGeom>
          <a:noFill/>
        </p:spPr>
        <p:txBody>
          <a:bodyPr wrap="square" anchor="t" lIns="0" rIns="0" tIns="0" bIns="0">
            <a:spAutoFit/>
          </a:bodyPr>
          <a:lstStyle/>
          <a:p>
            <a:pPr algn="l"/>
            <a:r>
              <a:rPr sz="1500" b="0">
                <a:solidFill>
                  <a:srgbClr val="1F2A2A"/>
                </a:solidFill>
                <a:latin typeface="Calibri"/>
              </a:rPr>
              <a:t>Send back 37% of what they buy. Others return about 1%.</a:t>
            </a:r>
          </a:p>
        </p:txBody>
      </p:sp>
      <p:sp>
        <p:nvSpPr>
          <p:cNvPr id="26" name="TextBox 25"/>
          <p:cNvSpPr txBox="1"/>
          <p:nvPr/>
        </p:nvSpPr>
        <p:spPr>
          <a:xfrm>
            <a:off x="9180576" y="5440680"/>
            <a:ext cx="2194560" cy="457200"/>
          </a:xfrm>
          <a:prstGeom prst="rect">
            <a:avLst/>
          </a:prstGeom>
          <a:noFill/>
        </p:spPr>
        <p:txBody>
          <a:bodyPr wrap="square" anchor="t" lIns="0" rIns="0" tIns="0" bIns="0">
            <a:spAutoFit/>
          </a:bodyPr>
          <a:lstStyle/>
          <a:p>
            <a:pPr algn="l"/>
            <a:r>
              <a:rPr sz="1800" b="1">
                <a:solidFill>
                  <a:srgbClr val="E2725B"/>
                </a:solidFill>
                <a:latin typeface="Calibri"/>
              </a:rPr>
              <a:t>4% of sales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40080" y="457200"/>
            <a:ext cx="10911535" cy="1143000"/>
          </a:xfrm>
        </p:spPr>
        <p:txBody>
          <a:bodyPr wrap="square" anchor="t" lIns="0" rIns="0" tIns="0" bIns="0"/>
          <a:lstStyle/>
          <a:p>
            <a:pPr algn="l"/>
            <a:r>
              <a:rPr sz="3400" b="1">
                <a:solidFill>
                  <a:srgbClr val="0F3D3E"/>
                </a:solidFill>
                <a:latin typeface="Cambria"/>
              </a:rPr>
              <a:t>A third of customers bring in most of the money</a:t>
            </a:r>
          </a:p>
        </p:txBody>
      </p:sp>
      <p:graphicFrame>
        <p:nvGraphicFramePr>
          <p:cNvPr id="3" name="Chart: share of customers and sales by group"/>
          <p:cNvGraphicFramePr>
            <a:graphicFrameLocks noGrp="1"/>
          </p:cNvGraphicFramePr>
          <p:nvPr/>
        </p:nvGraphicFramePr>
        <p:xfrm>
          <a:off x="640080" y="1691640"/>
          <a:ext cx="7223760" cy="4526280"/>
        </p:xfrm>
        <a:graphic>
          <a:graphicData uri="http://schemas.openxmlformats.org/drawingml/2006/chart">
            <c:chart xmlns:c="http://schemas.openxmlformats.org/drawingml/2006/chart" r:id="rId3"/>
          </a:graphicData>
        </a:graphic>
      </p:graphicFrame>
      <p:sp>
        <p:nvSpPr>
          <p:cNvPr id="4" name="TextBox 3"/>
          <p:cNvSpPr txBox="1"/>
          <p:nvPr/>
        </p:nvSpPr>
        <p:spPr>
          <a:xfrm>
            <a:off x="8275320" y="1874519"/>
            <a:ext cx="3291840" cy="1325880"/>
          </a:xfrm>
          <a:prstGeom prst="rect">
            <a:avLst/>
          </a:prstGeom>
          <a:noFill/>
        </p:spPr>
        <p:txBody>
          <a:bodyPr wrap="square" anchor="t" lIns="0" rIns="0" tIns="0" bIns="0">
            <a:spAutoFit/>
          </a:bodyPr>
          <a:lstStyle/>
          <a:p>
            <a:pPr algn="l">
              <a:spcAft>
                <a:spcPts val="300"/>
              </a:spcAft>
            </a:pPr>
            <a:r>
              <a:rPr sz="1700" b="1">
                <a:solidFill>
                  <a:srgbClr val="0F3D3E"/>
                </a:solidFill>
                <a:latin typeface="Calibri"/>
              </a:rPr>
              <a:t>Loyal Regulars carry the business.</a:t>
            </a:r>
          </a:p>
          <a:p>
            <a:pPr algn="l">
              <a:spcAft>
                <a:spcPts val="300"/>
              </a:spcAft>
            </a:pPr>
            <a:r>
              <a:rPr sz="1500" b="0">
                <a:solidFill>
                  <a:srgbClr val="5E6B6B"/>
                </a:solidFill>
                <a:latin typeface="Calibri"/>
              </a:rPr>
              <a:t>A typical one has spent about eight times as much as a typical Lapsed Customer.</a:t>
            </a:r>
          </a:p>
        </p:txBody>
      </p:sp>
      <p:sp>
        <p:nvSpPr>
          <p:cNvPr id="5" name="TextBox 4"/>
          <p:cNvSpPr txBox="1"/>
          <p:nvPr/>
        </p:nvSpPr>
        <p:spPr>
          <a:xfrm>
            <a:off x="8275320" y="3337560"/>
            <a:ext cx="3291840" cy="1325880"/>
          </a:xfrm>
          <a:prstGeom prst="rect">
            <a:avLst/>
          </a:prstGeom>
          <a:noFill/>
        </p:spPr>
        <p:txBody>
          <a:bodyPr wrap="square" anchor="t" lIns="0" rIns="0" tIns="0" bIns="0">
            <a:spAutoFit/>
          </a:bodyPr>
          <a:lstStyle/>
          <a:p>
            <a:pPr algn="l">
              <a:spcAft>
                <a:spcPts val="300"/>
              </a:spcAft>
            </a:pPr>
            <a:r>
              <a:rPr sz="1700" b="1">
                <a:solidFill>
                  <a:srgbClr val="0F3D3E"/>
                </a:solidFill>
                <a:latin typeface="Calibri"/>
              </a:rPr>
              <a:t>New Customers are the growth opportunity.</a:t>
            </a:r>
          </a:p>
          <a:p>
            <a:pPr algn="l">
              <a:spcAft>
                <a:spcPts val="300"/>
              </a:spcAft>
            </a:pPr>
            <a:r>
              <a:rPr sz="1500" b="0">
                <a:solidFill>
                  <a:srgbClr val="5E6B6B"/>
                </a:solidFill>
                <a:latin typeface="Calibri"/>
              </a:rPr>
              <a:t>Nearly a third of customers, and only 7% of sales so far.</a:t>
            </a:r>
          </a:p>
        </p:txBody>
      </p:sp>
      <p:sp>
        <p:nvSpPr>
          <p:cNvPr id="6" name="TextBox 5"/>
          <p:cNvSpPr txBox="1"/>
          <p:nvPr/>
        </p:nvSpPr>
        <p:spPr>
          <a:xfrm>
            <a:off x="8275320" y="4800600"/>
            <a:ext cx="3291840" cy="1325880"/>
          </a:xfrm>
          <a:prstGeom prst="rect">
            <a:avLst/>
          </a:prstGeom>
          <a:noFill/>
        </p:spPr>
        <p:txBody>
          <a:bodyPr wrap="square" anchor="t" lIns="0" rIns="0" tIns="0" bIns="0">
            <a:spAutoFit/>
          </a:bodyPr>
          <a:lstStyle/>
          <a:p>
            <a:pPr algn="l">
              <a:spcAft>
                <a:spcPts val="300"/>
              </a:spcAft>
            </a:pPr>
            <a:r>
              <a:rPr sz="1700" b="1">
                <a:solidFill>
                  <a:srgbClr val="0F3D3E"/>
                </a:solidFill>
                <a:latin typeface="Calibri"/>
              </a:rPr>
              <a:t>Lapsed Customers cost more than they return.</a:t>
            </a:r>
          </a:p>
          <a:p>
            <a:pPr algn="l">
              <a:spcAft>
                <a:spcPts val="300"/>
              </a:spcAft>
            </a:pPr>
            <a:r>
              <a:rPr sz="1500" b="0">
                <a:solidFill>
                  <a:srgbClr val="5E6B6B"/>
                </a:solidFill>
                <a:latin typeface="Calibri"/>
              </a:rPr>
              <a:t>31% of customers, 6% of sales.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40080" y="457200"/>
            <a:ext cx="10911535" cy="1143000"/>
          </a:xfrm>
        </p:spPr>
        <p:txBody>
          <a:bodyPr wrap="square" anchor="t" lIns="0" rIns="0" tIns="0" bIns="0"/>
          <a:lstStyle/>
          <a:p>
            <a:pPr algn="l"/>
            <a:r>
              <a:rPr sz="3400" b="1">
                <a:solidFill>
                  <a:srgbClr val="0F3D3E"/>
                </a:solidFill>
                <a:latin typeface="Cambria"/>
              </a:rPr>
              <a:t>A different play for each group</a:t>
            </a:r>
          </a:p>
        </p:txBody>
      </p:sp>
      <p:sp>
        <p:nvSpPr>
          <p:cNvPr id="3" name="Play: Loyal Regulars"/>
          <p:cNvSpPr/>
          <p:nvPr/>
        </p:nvSpPr>
        <p:spPr>
          <a:xfrm>
            <a:off x="640080" y="1737360"/>
            <a:ext cx="10908792" cy="960120"/>
          </a:xfrm>
          <a:prstGeom prst="roundRect">
            <a:avLst>
              <a:gd name="adj" fmla="val 6000"/>
            </a:avLst>
          </a:prstGeom>
          <a:solidFill>
            <a:srgbClr val="E8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19" y="1737360"/>
            <a:ext cx="2560320" cy="960120"/>
          </a:xfrm>
          <a:prstGeom prst="rect">
            <a:avLst/>
          </a:prstGeom>
          <a:noFill/>
        </p:spPr>
        <p:txBody>
          <a:bodyPr wrap="square" anchor="ctr" lIns="0" rIns="0" tIns="0" bIns="0">
            <a:spAutoFit/>
          </a:bodyPr>
          <a:lstStyle/>
          <a:p>
            <a:pPr algn="l"/>
            <a:r>
              <a:rPr sz="1800" b="1">
                <a:solidFill>
                  <a:srgbClr val="0F3D3E"/>
                </a:solidFill>
                <a:latin typeface="Calibri"/>
              </a:rPr>
              <a:t>Loyal Regulars</a:t>
            </a:r>
          </a:p>
        </p:txBody>
      </p:sp>
      <p:sp>
        <p:nvSpPr>
          <p:cNvPr id="5" name="TextBox 4"/>
          <p:cNvSpPr txBox="1"/>
          <p:nvPr/>
        </p:nvSpPr>
        <p:spPr>
          <a:xfrm>
            <a:off x="3566160" y="1737360"/>
            <a:ext cx="2103120" cy="960120"/>
          </a:xfrm>
          <a:prstGeom prst="rect">
            <a:avLst/>
          </a:prstGeom>
          <a:noFill/>
        </p:spPr>
        <p:txBody>
          <a:bodyPr wrap="square" anchor="ctr" lIns="0" rIns="0" tIns="0" bIns="0">
            <a:spAutoFit/>
          </a:bodyPr>
          <a:lstStyle/>
          <a:p>
            <a:pPr algn="l"/>
            <a:r>
              <a:rPr sz="1800" b="1">
                <a:solidFill>
                  <a:srgbClr val="E2725B"/>
                </a:solidFill>
                <a:latin typeface="Calibri"/>
              </a:rPr>
              <a:t>Keep</a:t>
            </a:r>
          </a:p>
        </p:txBody>
      </p:sp>
      <p:sp>
        <p:nvSpPr>
          <p:cNvPr id="6" name="TextBox 5"/>
          <p:cNvSpPr txBox="1"/>
          <p:nvPr/>
        </p:nvSpPr>
        <p:spPr>
          <a:xfrm>
            <a:off x="5715000" y="1737360"/>
            <a:ext cx="5577840" cy="960120"/>
          </a:xfrm>
          <a:prstGeom prst="rect">
            <a:avLst/>
          </a:prstGeom>
          <a:noFill/>
        </p:spPr>
        <p:txBody>
          <a:bodyPr wrap="square" anchor="ctr" lIns="0" rIns="0" tIns="0" bIns="0">
            <a:spAutoFit/>
          </a:bodyPr>
          <a:lstStyle/>
          <a:p>
            <a:pPr algn="l"/>
            <a:r>
              <a:rPr sz="1500" b="0">
                <a:solidFill>
                  <a:srgbClr val="1F2A2A"/>
                </a:solidFill>
                <a:latin typeface="Calibri"/>
              </a:rPr>
              <a:t>Loyalty perks, early access to new ranges, and a named contact for the largest accounts.</a:t>
            </a:r>
          </a:p>
        </p:txBody>
      </p:sp>
      <p:sp>
        <p:nvSpPr>
          <p:cNvPr id="7" name="Play: New Customers"/>
          <p:cNvSpPr/>
          <p:nvPr/>
        </p:nvSpPr>
        <p:spPr>
          <a:xfrm>
            <a:off x="640080" y="2852928"/>
            <a:ext cx="10908792" cy="960120"/>
          </a:xfrm>
          <a:prstGeom prst="roundRect">
            <a:avLst>
              <a:gd name="adj" fmla="val 6000"/>
            </a:avLst>
          </a:prstGeom>
          <a:solidFill>
            <a:srgbClr val="E8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19" y="2852928"/>
            <a:ext cx="2560320" cy="960120"/>
          </a:xfrm>
          <a:prstGeom prst="rect">
            <a:avLst/>
          </a:prstGeom>
          <a:noFill/>
        </p:spPr>
        <p:txBody>
          <a:bodyPr wrap="square" anchor="ctr" lIns="0" rIns="0" tIns="0" bIns="0">
            <a:spAutoFit/>
          </a:bodyPr>
          <a:lstStyle/>
          <a:p>
            <a:pPr algn="l"/>
            <a:r>
              <a:rPr sz="1800" b="1">
                <a:solidFill>
                  <a:srgbClr val="0F3D3E"/>
                </a:solidFill>
                <a:latin typeface="Calibri"/>
              </a:rPr>
              <a:t>New Customers</a:t>
            </a:r>
          </a:p>
        </p:txBody>
      </p:sp>
      <p:sp>
        <p:nvSpPr>
          <p:cNvPr id="9" name="TextBox 8"/>
          <p:cNvSpPr txBox="1"/>
          <p:nvPr/>
        </p:nvSpPr>
        <p:spPr>
          <a:xfrm>
            <a:off x="3566160" y="2852928"/>
            <a:ext cx="2103120" cy="960120"/>
          </a:xfrm>
          <a:prstGeom prst="rect">
            <a:avLst/>
          </a:prstGeom>
          <a:noFill/>
        </p:spPr>
        <p:txBody>
          <a:bodyPr wrap="square" anchor="ctr" lIns="0" rIns="0" tIns="0" bIns="0">
            <a:spAutoFit/>
          </a:bodyPr>
          <a:lstStyle/>
          <a:p>
            <a:pPr algn="l"/>
            <a:r>
              <a:rPr sz="1800" b="1">
                <a:solidFill>
                  <a:srgbClr val="E2725B"/>
                </a:solidFill>
                <a:latin typeface="Calibri"/>
              </a:rPr>
              <a:t>Grow</a:t>
            </a:r>
          </a:p>
        </p:txBody>
      </p:sp>
      <p:sp>
        <p:nvSpPr>
          <p:cNvPr id="10" name="TextBox 9"/>
          <p:cNvSpPr txBox="1"/>
          <p:nvPr/>
        </p:nvSpPr>
        <p:spPr>
          <a:xfrm>
            <a:off x="5715000" y="2852928"/>
            <a:ext cx="5577840" cy="960120"/>
          </a:xfrm>
          <a:prstGeom prst="rect">
            <a:avLst/>
          </a:prstGeom>
          <a:noFill/>
        </p:spPr>
        <p:txBody>
          <a:bodyPr wrap="square" anchor="ctr" lIns="0" rIns="0" tIns="0" bIns="0">
            <a:spAutoFit/>
          </a:bodyPr>
          <a:lstStyle/>
          <a:p>
            <a:pPr algn="l"/>
            <a:r>
              <a:rPr sz="1500" b="0">
                <a:solidFill>
                  <a:srgbClr val="1F2A2A"/>
                </a:solidFill>
                <a:latin typeface="Calibri"/>
              </a:rPr>
              <a:t>A welcome series, an incentive for the second and third order, and suggestions based on first purchases.</a:t>
            </a:r>
          </a:p>
        </p:txBody>
      </p:sp>
      <p:sp>
        <p:nvSpPr>
          <p:cNvPr id="11" name="Play: Lapsed Customers"/>
          <p:cNvSpPr/>
          <p:nvPr/>
        </p:nvSpPr>
        <p:spPr>
          <a:xfrm>
            <a:off x="640080" y="3968496"/>
            <a:ext cx="10908792" cy="960120"/>
          </a:xfrm>
          <a:prstGeom prst="roundRect">
            <a:avLst>
              <a:gd name="adj" fmla="val 6000"/>
            </a:avLst>
          </a:prstGeom>
          <a:solidFill>
            <a:srgbClr val="E8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19" y="3968496"/>
            <a:ext cx="2560320" cy="960120"/>
          </a:xfrm>
          <a:prstGeom prst="rect">
            <a:avLst/>
          </a:prstGeom>
          <a:noFill/>
        </p:spPr>
        <p:txBody>
          <a:bodyPr wrap="square" anchor="ctr" lIns="0" rIns="0" tIns="0" bIns="0">
            <a:spAutoFit/>
          </a:bodyPr>
          <a:lstStyle/>
          <a:p>
            <a:pPr algn="l"/>
            <a:r>
              <a:rPr sz="1800" b="1">
                <a:solidFill>
                  <a:srgbClr val="0F3D3E"/>
                </a:solidFill>
                <a:latin typeface="Calibri"/>
              </a:rPr>
              <a:t>Lapsed Customers</a:t>
            </a:r>
          </a:p>
        </p:txBody>
      </p:sp>
      <p:sp>
        <p:nvSpPr>
          <p:cNvPr id="13" name="TextBox 12"/>
          <p:cNvSpPr txBox="1"/>
          <p:nvPr/>
        </p:nvSpPr>
        <p:spPr>
          <a:xfrm>
            <a:off x="3566160" y="3968496"/>
            <a:ext cx="2103120" cy="960120"/>
          </a:xfrm>
          <a:prstGeom prst="rect">
            <a:avLst/>
          </a:prstGeom>
          <a:noFill/>
        </p:spPr>
        <p:txBody>
          <a:bodyPr wrap="square" anchor="ctr" lIns="0" rIns="0" tIns="0" bIns="0">
            <a:spAutoFit/>
          </a:bodyPr>
          <a:lstStyle/>
          <a:p>
            <a:pPr algn="l"/>
            <a:r>
              <a:rPr sz="1800" b="1">
                <a:solidFill>
                  <a:srgbClr val="E2725B"/>
                </a:solidFill>
                <a:latin typeface="Calibri"/>
              </a:rPr>
              <a:t>Win back cheaply</a:t>
            </a:r>
          </a:p>
        </p:txBody>
      </p:sp>
      <p:sp>
        <p:nvSpPr>
          <p:cNvPr id="14" name="TextBox 13"/>
          <p:cNvSpPr txBox="1"/>
          <p:nvPr/>
        </p:nvSpPr>
        <p:spPr>
          <a:xfrm>
            <a:off x="5715000" y="3968496"/>
            <a:ext cx="5577840" cy="960120"/>
          </a:xfrm>
          <a:prstGeom prst="rect">
            <a:avLst/>
          </a:prstGeom>
          <a:noFill/>
        </p:spPr>
        <p:txBody>
          <a:bodyPr wrap="square" anchor="ctr" lIns="0" rIns="0" tIns="0" bIns="0">
            <a:spAutoFit/>
          </a:bodyPr>
          <a:lstStyle/>
          <a:p>
            <a:pPr algn="l"/>
            <a:r>
              <a:rPr sz="1500" b="0">
                <a:solidFill>
                  <a:srgbClr val="1F2A2A"/>
                </a:solidFill>
                <a:latin typeface="Calibri"/>
              </a:rPr>
              <a:t>One "we miss you" offer ahead of the autumn peak, then stop spending on those who do not respond.</a:t>
            </a:r>
          </a:p>
        </p:txBody>
      </p:sp>
      <p:sp>
        <p:nvSpPr>
          <p:cNvPr id="15" name="Play: Heavy Returners"/>
          <p:cNvSpPr/>
          <p:nvPr/>
        </p:nvSpPr>
        <p:spPr>
          <a:xfrm>
            <a:off x="640080" y="5084064"/>
            <a:ext cx="10908792" cy="960120"/>
          </a:xfrm>
          <a:prstGeom prst="roundRect">
            <a:avLst>
              <a:gd name="adj" fmla="val 6000"/>
            </a:avLst>
          </a:prstGeom>
          <a:solidFill>
            <a:srgbClr val="E8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19" y="5084064"/>
            <a:ext cx="2560320" cy="960120"/>
          </a:xfrm>
          <a:prstGeom prst="rect">
            <a:avLst/>
          </a:prstGeom>
          <a:noFill/>
        </p:spPr>
        <p:txBody>
          <a:bodyPr wrap="square" anchor="ctr" lIns="0" rIns="0" tIns="0" bIns="0">
            <a:spAutoFit/>
          </a:bodyPr>
          <a:lstStyle/>
          <a:p>
            <a:pPr algn="l"/>
            <a:r>
              <a:rPr sz="1800" b="1">
                <a:solidFill>
                  <a:srgbClr val="0F3D3E"/>
                </a:solidFill>
                <a:latin typeface="Calibri"/>
              </a:rPr>
              <a:t>Heavy Returners</a:t>
            </a:r>
          </a:p>
        </p:txBody>
      </p:sp>
      <p:sp>
        <p:nvSpPr>
          <p:cNvPr id="17" name="TextBox 16"/>
          <p:cNvSpPr txBox="1"/>
          <p:nvPr/>
        </p:nvSpPr>
        <p:spPr>
          <a:xfrm>
            <a:off x="3566160" y="5084064"/>
            <a:ext cx="2103120" cy="960120"/>
          </a:xfrm>
          <a:prstGeom prst="rect">
            <a:avLst/>
          </a:prstGeom>
          <a:noFill/>
        </p:spPr>
        <p:txBody>
          <a:bodyPr wrap="square" anchor="ctr" lIns="0" rIns="0" tIns="0" bIns="0">
            <a:spAutoFit/>
          </a:bodyPr>
          <a:lstStyle/>
          <a:p>
            <a:pPr algn="l"/>
            <a:r>
              <a:rPr sz="1800" b="1">
                <a:solidFill>
                  <a:srgbClr val="E2725B"/>
                </a:solidFill>
                <a:latin typeface="Calibri"/>
              </a:rPr>
              <a:t>Understand</a:t>
            </a:r>
          </a:p>
        </p:txBody>
      </p:sp>
      <p:sp>
        <p:nvSpPr>
          <p:cNvPr id="18" name="TextBox 17"/>
          <p:cNvSpPr txBox="1"/>
          <p:nvPr/>
        </p:nvSpPr>
        <p:spPr>
          <a:xfrm>
            <a:off x="5715000" y="5084064"/>
            <a:ext cx="5577840" cy="960120"/>
          </a:xfrm>
          <a:prstGeom prst="rect">
            <a:avLst/>
          </a:prstGeom>
          <a:noFill/>
        </p:spPr>
        <p:txBody>
          <a:bodyPr wrap="square" anchor="ctr" lIns="0" rIns="0" tIns="0" bIns="0">
            <a:spAutoFit/>
          </a:bodyPr>
          <a:lstStyle/>
          <a:p>
            <a:pPr algn="l"/>
            <a:r>
              <a:rPr sz="1500" b="0">
                <a:solidFill>
                  <a:srgbClr val="1F2A2A"/>
                </a:solidFill>
                <a:latin typeface="Calibri"/>
              </a:rPr>
              <a:t>Review these accounts by hand before marketing to them. Fix any product or ordering problems.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40080" y="457200"/>
            <a:ext cx="10911535" cy="1143000"/>
          </a:xfrm>
        </p:spPr>
        <p:txBody>
          <a:bodyPr wrap="square" anchor="t" lIns="0" rIns="0" tIns="0" bIns="0"/>
          <a:lstStyle/>
          <a:p>
            <a:pPr algn="l"/>
            <a:r>
              <a:rPr sz="3400" b="1">
                <a:solidFill>
                  <a:srgbClr val="0F3D3E"/>
                </a:solidFill>
                <a:latin typeface="Cambria"/>
              </a:rPr>
              <a:t>Small improvements could be worth about £310k in the first year</a:t>
            </a:r>
          </a:p>
        </p:txBody>
      </p:sp>
      <p:graphicFrame>
        <p:nvGraphicFramePr>
          <p:cNvPr id="3" name="Chart: value of three improvement scenarios"/>
          <p:cNvGraphicFramePr>
            <a:graphicFrameLocks noGrp="1"/>
          </p:cNvGraphicFramePr>
          <p:nvPr/>
        </p:nvGraphicFramePr>
        <p:xfrm>
          <a:off x="640080" y="1783080"/>
          <a:ext cx="6949440" cy="3566160"/>
        </p:xfrm>
        <a:graphic>
          <a:graphicData uri="http://schemas.openxmlformats.org/drawingml/2006/chart">
            <c:chart xmlns:c="http://schemas.openxmlformats.org/drawingml/2006/chart" r:id="rId3"/>
          </a:graphicData>
        </a:graphic>
      </p:graphicFrame>
      <p:sp>
        <p:nvSpPr>
          <p:cNvPr id="4" name="Assumptions card"/>
          <p:cNvSpPr/>
          <p:nvPr/>
        </p:nvSpPr>
        <p:spPr>
          <a:xfrm>
            <a:off x="8001000" y="1783080"/>
            <a:ext cx="3547872" cy="3566160"/>
          </a:xfrm>
          <a:prstGeom prst="roundRect">
            <a:avLst>
              <a:gd name="adj" fmla="val 6000"/>
            </a:avLst>
          </a:prstGeom>
          <a:solidFill>
            <a:srgbClr val="E8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0" y="1938528"/>
            <a:ext cx="3108960" cy="3291840"/>
          </a:xfrm>
          <a:prstGeom prst="rect">
            <a:avLst/>
          </a:prstGeom>
          <a:noFill/>
        </p:spPr>
        <p:txBody>
          <a:bodyPr wrap="square" anchor="t" lIns="0" rIns="0" tIns="0" bIns="0">
            <a:spAutoFit/>
          </a:bodyPr>
          <a:lstStyle/>
          <a:p>
            <a:pPr algn="l">
              <a:spcAft>
                <a:spcPts val="700"/>
              </a:spcAft>
            </a:pPr>
            <a:r>
              <a:rPr sz="1600" b="1">
                <a:solidFill>
                  <a:srgbClr val="0F3D3E"/>
                </a:solidFill>
                <a:latin typeface="Calibri"/>
              </a:rPr>
              <a:t>How the figures are worked out</a:t>
            </a:r>
          </a:p>
          <a:p>
            <a:pPr algn="l">
              <a:spcAft>
                <a:spcPts val="700"/>
              </a:spcAft>
            </a:pPr>
            <a:r>
              <a:rPr sz="1400" b="0">
                <a:solidFill>
                  <a:srgbClr val="1F2A2A"/>
                </a:solidFill>
                <a:latin typeface="Calibri"/>
              </a:rPr>
              <a:t>Keep: Loyal Regulars bring in about £7.1m a year. 1% of that is £71k.</a:t>
            </a:r>
          </a:p>
          <a:p>
            <a:pPr algn="l">
              <a:spcAft>
                <a:spcPts val="700"/>
              </a:spcAft>
            </a:pPr>
            <a:r>
              <a:rPr sz="1400" b="0">
                <a:solidFill>
                  <a:srgbClr val="1F2A2A"/>
                </a:solidFill>
                <a:latin typeface="Calibri"/>
              </a:rPr>
              <a:t>Grow: 169 New Customers reach a typical regular's spend, about £1,200 more each per year.</a:t>
            </a:r>
          </a:p>
          <a:p>
            <a:pPr algn="l">
              <a:spcAft>
                <a:spcPts val="700"/>
              </a:spcAft>
            </a:pPr>
            <a:r>
              <a:rPr sz="1400" b="0">
                <a:solidFill>
                  <a:srgbClr val="1F2A2A"/>
                </a:solidFill>
                <a:latin typeface="Calibri"/>
              </a:rPr>
              <a:t>Win back: 91 Lapsed Customers repeat their typical £358 order.</a:t>
            </a:r>
          </a:p>
        </p:txBody>
      </p:sp>
      <p:sp>
        <p:nvSpPr>
          <p:cNvPr id="6" name="TextBox 5"/>
          <p:cNvSpPr txBox="1"/>
          <p:nvPr/>
        </p:nvSpPr>
        <p:spPr>
          <a:xfrm>
            <a:off x="640080" y="5577840"/>
            <a:ext cx="10908792" cy="640080"/>
          </a:xfrm>
          <a:prstGeom prst="rect">
            <a:avLst/>
          </a:prstGeom>
          <a:noFill/>
        </p:spPr>
        <p:txBody>
          <a:bodyPr wrap="square" anchor="t" lIns="0" rIns="0" tIns="0" bIns="0">
            <a:spAutoFit/>
          </a:bodyPr>
          <a:lstStyle/>
          <a:p>
            <a:pPr algn="l"/>
            <a:r>
              <a:rPr sz="1200" b="0">
                <a:solidFill>
                  <a:srgbClr val="5E6B6B"/>
                </a:solidFill>
                <a:latin typeface="Calibri"/>
              </a:rPr>
              <a:t>Illustrative scenarios based on two years of actual sales (£17.1m from customers with accounts). They are not forecasts and exclude campaign costs. A pilot is needed to confirm them.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40080" y="457200"/>
            <a:ext cx="10911535" cy="1143000"/>
          </a:xfrm>
        </p:spPr>
        <p:txBody>
          <a:bodyPr wrap="square" anchor="t" lIns="0" rIns="0" tIns="0" bIns="0"/>
          <a:lstStyle/>
          <a:p>
            <a:pPr algn="l"/>
            <a:r>
              <a:rPr sz="3400" b="1">
                <a:solidFill>
                  <a:srgbClr val="0F3D3E"/>
                </a:solidFill>
                <a:latin typeface="Cambria"/>
              </a:rPr>
              <a:t>Four risks, and how we manage each one</a:t>
            </a:r>
          </a:p>
        </p:txBody>
      </p:sp>
      <p:sp>
        <p:nvSpPr>
          <p:cNvPr id="3" name="Risk card 1"/>
          <p:cNvSpPr/>
          <p:nvPr/>
        </p:nvSpPr>
        <p:spPr>
          <a:xfrm>
            <a:off x="640080" y="1737360"/>
            <a:ext cx="5358384" cy="1920240"/>
          </a:xfrm>
          <a:prstGeom prst="roundRect">
            <a:avLst>
              <a:gd name="adj" fmla="val 6000"/>
            </a:avLst>
          </a:prstGeom>
          <a:solidFill>
            <a:srgbClr val="E8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901952"/>
            <a:ext cx="4846320" cy="411480"/>
          </a:xfrm>
          <a:prstGeom prst="rect">
            <a:avLst/>
          </a:prstGeom>
          <a:noFill/>
        </p:spPr>
        <p:txBody>
          <a:bodyPr wrap="square" anchor="t" lIns="0" rIns="0" tIns="0" bIns="0">
            <a:spAutoFit/>
          </a:bodyPr>
          <a:lstStyle/>
          <a:p>
            <a:pPr algn="l"/>
            <a:r>
              <a:rPr sz="1800" b="1">
                <a:solidFill>
                  <a:srgbClr val="0F3D3E"/>
                </a:solidFill>
                <a:latin typeface="Calibri"/>
              </a:rPr>
              <a:t>Group borders are fuzzy</a:t>
            </a:r>
          </a:p>
        </p:txBody>
      </p:sp>
      <p:sp>
        <p:nvSpPr>
          <p:cNvPr id="5" name="TextBox 4"/>
          <p:cNvSpPr txBox="1"/>
          <p:nvPr/>
        </p:nvSpPr>
        <p:spPr>
          <a:xfrm>
            <a:off x="914400" y="2359152"/>
            <a:ext cx="4846320" cy="594360"/>
          </a:xfrm>
          <a:prstGeom prst="rect">
            <a:avLst/>
          </a:prstGeom>
          <a:noFill/>
        </p:spPr>
        <p:txBody>
          <a:bodyPr wrap="square" anchor="t" lIns="0" rIns="0" tIns="0" bIns="0">
            <a:spAutoFit/>
          </a:bodyPr>
          <a:lstStyle/>
          <a:p>
            <a:pPr algn="l"/>
            <a:r>
              <a:rPr sz="1400" b="0">
                <a:solidFill>
                  <a:srgbClr val="5E6B6B"/>
                </a:solidFill>
                <a:latin typeface="Calibri"/>
              </a:rPr>
              <a:t>A customer near a border could sit in either group.</a:t>
            </a:r>
          </a:p>
        </p:txBody>
      </p:sp>
      <p:sp>
        <p:nvSpPr>
          <p:cNvPr id="6" name="TextBox 5"/>
          <p:cNvSpPr txBox="1"/>
          <p:nvPr/>
        </p:nvSpPr>
        <p:spPr>
          <a:xfrm>
            <a:off x="914400" y="2971800"/>
            <a:ext cx="4846320" cy="594360"/>
          </a:xfrm>
          <a:prstGeom prst="rect">
            <a:avLst/>
          </a:prstGeom>
          <a:noFill/>
        </p:spPr>
        <p:txBody>
          <a:bodyPr wrap="square" anchor="t" lIns="0" rIns="0" tIns="0" bIns="0">
            <a:spAutoFit/>
          </a:bodyPr>
          <a:lstStyle/>
          <a:p>
            <a:pPr algn="l"/>
            <a:r>
              <a:rPr sz="1400" b="1">
                <a:solidFill>
                  <a:srgbClr val="E2725B"/>
                </a:solidFill>
                <a:latin typeface="Calibri"/>
              </a:rPr>
              <a:t>What we do: </a:t>
            </a:r>
            <a:r>
              <a:rPr sz="1400" b="0">
                <a:solidFill>
                  <a:srgbClr val="1F2A2A"/>
                </a:solidFill>
                <a:latin typeface="Calibri"/>
              </a:rPr>
              <a:t>Use groups to choose offers. Never to change prices or deny service.</a:t>
            </a:r>
          </a:p>
        </p:txBody>
      </p:sp>
      <p:sp>
        <p:nvSpPr>
          <p:cNvPr id="7" name="Risk card 2"/>
          <p:cNvSpPr/>
          <p:nvPr/>
        </p:nvSpPr>
        <p:spPr>
          <a:xfrm>
            <a:off x="6190488" y="1737360"/>
            <a:ext cx="5358384" cy="1920240"/>
          </a:xfrm>
          <a:prstGeom prst="roundRect">
            <a:avLst>
              <a:gd name="adj" fmla="val 6000"/>
            </a:avLst>
          </a:prstGeom>
          <a:solidFill>
            <a:srgbClr val="E8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64808" y="1901952"/>
            <a:ext cx="4846320" cy="411480"/>
          </a:xfrm>
          <a:prstGeom prst="rect">
            <a:avLst/>
          </a:prstGeom>
          <a:noFill/>
        </p:spPr>
        <p:txBody>
          <a:bodyPr wrap="square" anchor="t" lIns="0" rIns="0" tIns="0" bIns="0">
            <a:spAutoFit/>
          </a:bodyPr>
          <a:lstStyle/>
          <a:p>
            <a:pPr algn="l"/>
            <a:r>
              <a:rPr sz="1800" b="1">
                <a:solidFill>
                  <a:srgbClr val="0F3D3E"/>
                </a:solidFill>
                <a:latin typeface="Calibri"/>
              </a:rPr>
              <a:t>Overseas customers can be undervalued</a:t>
            </a:r>
          </a:p>
        </p:txBody>
      </p:sp>
      <p:sp>
        <p:nvSpPr>
          <p:cNvPr id="9" name="TextBox 8"/>
          <p:cNvSpPr txBox="1"/>
          <p:nvPr/>
        </p:nvSpPr>
        <p:spPr>
          <a:xfrm>
            <a:off x="6464808" y="2359152"/>
            <a:ext cx="4846320" cy="594360"/>
          </a:xfrm>
          <a:prstGeom prst="rect">
            <a:avLst/>
          </a:prstGeom>
          <a:noFill/>
        </p:spPr>
        <p:txBody>
          <a:bodyPr wrap="square" anchor="t" lIns="0" rIns="0" tIns="0" bIns="0">
            <a:spAutoFit/>
          </a:bodyPr>
          <a:lstStyle/>
          <a:p>
            <a:pPr algn="l"/>
            <a:r>
              <a:rPr sz="1400" b="0">
                <a:solidFill>
                  <a:srgbClr val="5E6B6B"/>
                </a:solidFill>
                <a:latin typeface="Calibri"/>
              </a:rPr>
              <a:t>At equal spend they are rated Loyal less often, because they place fewer, larger orders.</a:t>
            </a:r>
          </a:p>
        </p:txBody>
      </p:sp>
      <p:sp>
        <p:nvSpPr>
          <p:cNvPr id="10" name="TextBox 9"/>
          <p:cNvSpPr txBox="1"/>
          <p:nvPr/>
        </p:nvSpPr>
        <p:spPr>
          <a:xfrm>
            <a:off x="6464808" y="2971800"/>
            <a:ext cx="4846320" cy="594360"/>
          </a:xfrm>
          <a:prstGeom prst="rect">
            <a:avLst/>
          </a:prstGeom>
          <a:noFill/>
        </p:spPr>
        <p:txBody>
          <a:bodyPr wrap="square" anchor="t" lIns="0" rIns="0" tIns="0" bIns="0">
            <a:spAutoFit/>
          </a:bodyPr>
          <a:lstStyle/>
          <a:p>
            <a:pPr algn="l"/>
            <a:r>
              <a:rPr sz="1400" b="1">
                <a:solidFill>
                  <a:srgbClr val="E2725B"/>
                </a:solidFill>
                <a:latin typeface="Calibri"/>
              </a:rPr>
              <a:t>What we do: </a:t>
            </a:r>
            <a:r>
              <a:rPr sz="1400" b="0">
                <a:solidFill>
                  <a:srgbClr val="1F2A2A"/>
                </a:solidFill>
                <a:latin typeface="Calibri"/>
              </a:rPr>
              <a:t>Give perks to recent high spenders too. Adds 226 customers and evens out the rates.</a:t>
            </a:r>
          </a:p>
        </p:txBody>
      </p:sp>
      <p:sp>
        <p:nvSpPr>
          <p:cNvPr id="11" name="Risk card 3"/>
          <p:cNvSpPr/>
          <p:nvPr/>
        </p:nvSpPr>
        <p:spPr>
          <a:xfrm>
            <a:off x="640080" y="3840479"/>
            <a:ext cx="5358384" cy="1920240"/>
          </a:xfrm>
          <a:prstGeom prst="roundRect">
            <a:avLst>
              <a:gd name="adj" fmla="val 6000"/>
            </a:avLst>
          </a:prstGeom>
          <a:solidFill>
            <a:srgbClr val="E8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005071"/>
            <a:ext cx="4846320" cy="411480"/>
          </a:xfrm>
          <a:prstGeom prst="rect">
            <a:avLst/>
          </a:prstGeom>
          <a:noFill/>
        </p:spPr>
        <p:txBody>
          <a:bodyPr wrap="square" anchor="t" lIns="0" rIns="0" tIns="0" bIns="0">
            <a:spAutoFit/>
          </a:bodyPr>
          <a:lstStyle/>
          <a:p>
            <a:pPr algn="l"/>
            <a:r>
              <a:rPr sz="1800" b="1">
                <a:solidFill>
                  <a:srgbClr val="0F3D3E"/>
                </a:solidFill>
                <a:latin typeface="Calibri"/>
              </a:rPr>
              <a:t>Guest shoppers are invisible</a:t>
            </a:r>
          </a:p>
        </p:txBody>
      </p:sp>
      <p:sp>
        <p:nvSpPr>
          <p:cNvPr id="13" name="TextBox 12"/>
          <p:cNvSpPr txBox="1"/>
          <p:nvPr/>
        </p:nvSpPr>
        <p:spPr>
          <a:xfrm>
            <a:off x="914400" y="4462271"/>
            <a:ext cx="4846320" cy="594360"/>
          </a:xfrm>
          <a:prstGeom prst="rect">
            <a:avLst/>
          </a:prstGeom>
          <a:noFill/>
        </p:spPr>
        <p:txBody>
          <a:bodyPr wrap="square" anchor="t" lIns="0" rIns="0" tIns="0" bIns="0">
            <a:spAutoFit/>
          </a:bodyPr>
          <a:lstStyle/>
          <a:p>
            <a:pPr algn="l"/>
            <a:r>
              <a:rPr sz="1400" b="0">
                <a:solidFill>
                  <a:srgbClr val="5E6B6B"/>
                </a:solidFill>
                <a:latin typeface="Calibri"/>
              </a:rPr>
              <a:t>15% of sales have no account attached, almost all in the UK.</a:t>
            </a:r>
          </a:p>
        </p:txBody>
      </p:sp>
      <p:sp>
        <p:nvSpPr>
          <p:cNvPr id="14" name="TextBox 13"/>
          <p:cNvSpPr txBox="1"/>
          <p:nvPr/>
        </p:nvSpPr>
        <p:spPr>
          <a:xfrm>
            <a:off x="914400" y="5074919"/>
            <a:ext cx="4846320" cy="594360"/>
          </a:xfrm>
          <a:prstGeom prst="rect">
            <a:avLst/>
          </a:prstGeom>
          <a:noFill/>
        </p:spPr>
        <p:txBody>
          <a:bodyPr wrap="square" anchor="t" lIns="0" rIns="0" tIns="0" bIns="0">
            <a:spAutoFit/>
          </a:bodyPr>
          <a:lstStyle/>
          <a:p>
            <a:pPr algn="l"/>
            <a:r>
              <a:rPr sz="1400" b="1">
                <a:solidFill>
                  <a:srgbClr val="E2725B"/>
                </a:solidFill>
                <a:latin typeface="Calibri"/>
              </a:rPr>
              <a:t>What we do: </a:t>
            </a:r>
            <a:r>
              <a:rPr sz="1400" b="0">
                <a:solidFill>
                  <a:srgbClr val="1F2A2A"/>
                </a:solidFill>
                <a:latin typeface="Calibri"/>
              </a:rPr>
              <a:t>Encourage sign-up at checkout. Read results as describing account holders.</a:t>
            </a:r>
          </a:p>
        </p:txBody>
      </p:sp>
      <p:sp>
        <p:nvSpPr>
          <p:cNvPr id="15" name="Risk card 4"/>
          <p:cNvSpPr/>
          <p:nvPr/>
        </p:nvSpPr>
        <p:spPr>
          <a:xfrm>
            <a:off x="6190488" y="3840479"/>
            <a:ext cx="5358384" cy="1920240"/>
          </a:xfrm>
          <a:prstGeom prst="roundRect">
            <a:avLst>
              <a:gd name="adj" fmla="val 6000"/>
            </a:avLst>
          </a:prstGeom>
          <a:solidFill>
            <a:srgbClr val="E8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808" y="4005071"/>
            <a:ext cx="4846320" cy="411480"/>
          </a:xfrm>
          <a:prstGeom prst="rect">
            <a:avLst/>
          </a:prstGeom>
          <a:noFill/>
        </p:spPr>
        <p:txBody>
          <a:bodyPr wrap="square" anchor="t" lIns="0" rIns="0" tIns="0" bIns="0">
            <a:spAutoFit/>
          </a:bodyPr>
          <a:lstStyle/>
          <a:p>
            <a:pPr algn="l"/>
            <a:r>
              <a:rPr sz="1800" b="1">
                <a:solidFill>
                  <a:srgbClr val="0F3D3E"/>
                </a:solidFill>
                <a:latin typeface="Calibri"/>
              </a:rPr>
              <a:t>The picture goes out of date</a:t>
            </a:r>
          </a:p>
        </p:txBody>
      </p:sp>
      <p:sp>
        <p:nvSpPr>
          <p:cNvPr id="17" name="TextBox 16"/>
          <p:cNvSpPr txBox="1"/>
          <p:nvPr/>
        </p:nvSpPr>
        <p:spPr>
          <a:xfrm>
            <a:off x="6464808" y="4462271"/>
            <a:ext cx="4846320" cy="594360"/>
          </a:xfrm>
          <a:prstGeom prst="rect">
            <a:avLst/>
          </a:prstGeom>
          <a:noFill/>
        </p:spPr>
        <p:txBody>
          <a:bodyPr wrap="square" anchor="t" lIns="0" rIns="0" tIns="0" bIns="0">
            <a:spAutoFit/>
          </a:bodyPr>
          <a:lstStyle/>
          <a:p>
            <a:pPr algn="l"/>
            <a:r>
              <a:rPr sz="1400" b="0">
                <a:solidFill>
                  <a:srgbClr val="5E6B6B"/>
                </a:solidFill>
                <a:latin typeface="Calibri"/>
              </a:rPr>
              <a:t>Groups reflect one moment, just after the Christmas peak.</a:t>
            </a:r>
          </a:p>
        </p:txBody>
      </p:sp>
      <p:sp>
        <p:nvSpPr>
          <p:cNvPr id="18" name="TextBox 17"/>
          <p:cNvSpPr txBox="1"/>
          <p:nvPr/>
        </p:nvSpPr>
        <p:spPr>
          <a:xfrm>
            <a:off x="6464808" y="5074919"/>
            <a:ext cx="4846320" cy="594360"/>
          </a:xfrm>
          <a:prstGeom prst="rect">
            <a:avLst/>
          </a:prstGeom>
          <a:noFill/>
        </p:spPr>
        <p:txBody>
          <a:bodyPr wrap="square" anchor="t" lIns="0" rIns="0" tIns="0" bIns="0">
            <a:spAutoFit/>
          </a:bodyPr>
          <a:lstStyle/>
          <a:p>
            <a:pPr algn="l"/>
            <a:r>
              <a:rPr sz="1400" b="1">
                <a:solidFill>
                  <a:srgbClr val="E2725B"/>
                </a:solidFill>
                <a:latin typeface="Calibri"/>
              </a:rPr>
              <a:t>What we do: </a:t>
            </a:r>
            <a:r>
              <a:rPr sz="1400" b="0">
                <a:solidFill>
                  <a:srgbClr val="1F2A2A"/>
                </a:solidFill>
                <a:latin typeface="Calibri"/>
              </a:rPr>
              <a:t>Refresh every quarter and repeat the fairness check each time.</a:t>
            </a:r>
          </a:p>
        </p:txBody>
      </p:sp>
      <p:sp>
        <p:nvSpPr>
          <p:cNvPr id="19" name="TextBox 18"/>
          <p:cNvSpPr txBox="1"/>
          <p:nvPr/>
        </p:nvSpPr>
        <p:spPr>
          <a:xfrm>
            <a:off x="640080" y="6035040"/>
            <a:ext cx="10908792" cy="365760"/>
          </a:xfrm>
          <a:prstGeom prst="rect">
            <a:avLst/>
          </a:prstGeom>
          <a:noFill/>
        </p:spPr>
        <p:txBody>
          <a:bodyPr wrap="square" anchor="t" lIns="0" rIns="0" tIns="0" bIns="0">
            <a:spAutoFit/>
          </a:bodyPr>
          <a:lstStyle/>
          <a:p>
            <a:pPr algn="l"/>
            <a:r>
              <a:rPr sz="1200" b="0">
                <a:solidFill>
                  <a:srgbClr val="5E6B6B"/>
                </a:solidFill>
                <a:latin typeface="Calibri"/>
              </a:rPr>
              <a:t>Fairness was checked by country only. The data holds no age, gender or ethnicity information.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40080" y="457200"/>
            <a:ext cx="10911535" cy="1143000"/>
          </a:xfrm>
        </p:spPr>
        <p:txBody>
          <a:bodyPr wrap="square" anchor="t" lIns="0" rIns="0" tIns="0" bIns="0"/>
          <a:lstStyle/>
          <a:p>
            <a:pPr algn="l"/>
            <a:r>
              <a:rPr sz="3400" b="1">
                <a:solidFill>
                  <a:srgbClr val="0F3D3E"/>
                </a:solidFill>
                <a:latin typeface="Cambria"/>
              </a:rPr>
              <a:t>A 90-day plan to prove the value</a:t>
            </a:r>
          </a:p>
        </p:txBody>
      </p:sp>
      <p:sp>
        <p:nvSpPr>
          <p:cNvPr id="3" name="Phase card: Set up"/>
          <p:cNvSpPr/>
          <p:nvPr/>
        </p:nvSpPr>
        <p:spPr>
          <a:xfrm>
            <a:off x="640080" y="1783080"/>
            <a:ext cx="3474720" cy="3429000"/>
          </a:xfrm>
          <a:prstGeom prst="roundRect">
            <a:avLst>
              <a:gd name="adj" fmla="val 6000"/>
            </a:avLst>
          </a:prstGeom>
          <a:solidFill>
            <a:srgbClr val="E8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 y="2011680"/>
            <a:ext cx="566928" cy="566928"/>
          </a:xfrm>
          <a:prstGeom prst="ellipse">
            <a:avLst/>
          </a:prstGeom>
          <a:solidFill>
            <a:srgbClr val="0F3D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1</a:t>
            </a:r>
          </a:p>
        </p:txBody>
      </p:sp>
      <p:sp>
        <p:nvSpPr>
          <p:cNvPr id="5" name="TextBox 4"/>
          <p:cNvSpPr txBox="1"/>
          <p:nvPr/>
        </p:nvSpPr>
        <p:spPr>
          <a:xfrm>
            <a:off x="1645920" y="2011680"/>
            <a:ext cx="2286000" cy="566928"/>
          </a:xfrm>
          <a:prstGeom prst="rect">
            <a:avLst/>
          </a:prstGeom>
          <a:noFill/>
        </p:spPr>
        <p:txBody>
          <a:bodyPr wrap="square" anchor="ctr" lIns="0" rIns="0" tIns="0" bIns="0">
            <a:spAutoFit/>
          </a:bodyPr>
          <a:lstStyle/>
          <a:p>
            <a:pPr algn="l"/>
            <a:r>
              <a:rPr sz="1500" b="0">
                <a:solidFill>
                  <a:srgbClr val="5E6B6B"/>
                </a:solidFill>
                <a:latin typeface="Calibri"/>
              </a:rPr>
              <a:t>Days 1 to 30</a:t>
            </a:r>
          </a:p>
        </p:txBody>
      </p:sp>
      <p:sp>
        <p:nvSpPr>
          <p:cNvPr id="6" name="TextBox 5"/>
          <p:cNvSpPr txBox="1"/>
          <p:nvPr/>
        </p:nvSpPr>
        <p:spPr>
          <a:xfrm>
            <a:off x="914400" y="2743200"/>
            <a:ext cx="2926080" cy="548640"/>
          </a:xfrm>
          <a:prstGeom prst="rect">
            <a:avLst/>
          </a:prstGeom>
          <a:noFill/>
        </p:spPr>
        <p:txBody>
          <a:bodyPr wrap="square" anchor="t" lIns="0" rIns="0" tIns="0" bIns="0">
            <a:spAutoFit/>
          </a:bodyPr>
          <a:lstStyle/>
          <a:p>
            <a:pPr algn="l"/>
            <a:r>
              <a:rPr sz="2600" b="1">
                <a:solidFill>
                  <a:srgbClr val="0F3D3E"/>
                </a:solidFill>
                <a:latin typeface="Cambria"/>
              </a:rPr>
              <a:t>Set up</a:t>
            </a:r>
          </a:p>
        </p:txBody>
      </p:sp>
      <p:sp>
        <p:nvSpPr>
          <p:cNvPr id="7" name="TextBox 6"/>
          <p:cNvSpPr txBox="1"/>
          <p:nvPr/>
        </p:nvSpPr>
        <p:spPr>
          <a:xfrm>
            <a:off x="914400" y="3429000"/>
            <a:ext cx="2926080" cy="2377440"/>
          </a:xfrm>
          <a:prstGeom prst="rect">
            <a:avLst/>
          </a:prstGeom>
          <a:noFill/>
        </p:spPr>
        <p:txBody>
          <a:bodyPr wrap="square" anchor="t" lIns="0" rIns="0" tIns="0" bIns="0">
            <a:spAutoFit/>
          </a:bodyPr>
          <a:lstStyle/>
          <a:p>
            <a:pPr algn="l">
              <a:spcAft>
                <a:spcPts val="1000"/>
              </a:spcAft>
            </a:pPr>
            <a:r>
              <a:rPr sz="1500" b="0">
                <a:solidFill>
                  <a:srgbClr val="1F2A2A"/>
                </a:solidFill>
                <a:latin typeface="Calibri"/>
              </a:rPr>
              <a:t>Load the four groups into the marketing system</a:t>
            </a:r>
          </a:p>
          <a:p>
            <a:pPr algn="l">
              <a:spcAft>
                <a:spcPts val="1000"/>
              </a:spcAft>
            </a:pPr>
            <a:r>
              <a:rPr sz="1500" b="0">
                <a:solidFill>
                  <a:srgbClr val="1F2A2A"/>
                </a:solidFill>
                <a:latin typeface="Calibri"/>
              </a:rPr>
              <a:t>Agree the perks rule, including the safety net</a:t>
            </a:r>
          </a:p>
          <a:p>
            <a:pPr algn="l">
              <a:spcAft>
                <a:spcPts val="1000"/>
              </a:spcAft>
            </a:pPr>
            <a:r>
              <a:rPr sz="1500" b="0">
                <a:solidFill>
                  <a:srgbClr val="1F2A2A"/>
                </a:solidFill>
                <a:latin typeface="Calibri"/>
              </a:rPr>
              <a:t>Fix the measures of success</a:t>
            </a:r>
          </a:p>
        </p:txBody>
      </p:sp>
      <p:sp>
        <p:nvSpPr>
          <p:cNvPr id="8" name="Phase card: Pilot"/>
          <p:cNvSpPr/>
          <p:nvPr/>
        </p:nvSpPr>
        <p:spPr>
          <a:xfrm>
            <a:off x="4343400" y="1783080"/>
            <a:ext cx="3474720" cy="3429000"/>
          </a:xfrm>
          <a:prstGeom prst="roundRect">
            <a:avLst>
              <a:gd name="adj" fmla="val 6000"/>
            </a:avLst>
          </a:prstGeom>
          <a:solidFill>
            <a:srgbClr val="E8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617720" y="2011680"/>
            <a:ext cx="566928" cy="566928"/>
          </a:xfrm>
          <a:prstGeom prst="ellipse">
            <a:avLst/>
          </a:prstGeom>
          <a:solidFill>
            <a:srgbClr val="0F3D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2</a:t>
            </a:r>
          </a:p>
        </p:txBody>
      </p:sp>
      <p:sp>
        <p:nvSpPr>
          <p:cNvPr id="10" name="TextBox 9"/>
          <p:cNvSpPr txBox="1"/>
          <p:nvPr/>
        </p:nvSpPr>
        <p:spPr>
          <a:xfrm>
            <a:off x="5349240" y="2011680"/>
            <a:ext cx="2286000" cy="566928"/>
          </a:xfrm>
          <a:prstGeom prst="rect">
            <a:avLst/>
          </a:prstGeom>
          <a:noFill/>
        </p:spPr>
        <p:txBody>
          <a:bodyPr wrap="square" anchor="ctr" lIns="0" rIns="0" tIns="0" bIns="0">
            <a:spAutoFit/>
          </a:bodyPr>
          <a:lstStyle/>
          <a:p>
            <a:pPr algn="l"/>
            <a:r>
              <a:rPr sz="1500" b="0">
                <a:solidFill>
                  <a:srgbClr val="5E6B6B"/>
                </a:solidFill>
                <a:latin typeface="Calibri"/>
              </a:rPr>
              <a:t>Days 31 to 60</a:t>
            </a:r>
          </a:p>
        </p:txBody>
      </p:sp>
      <p:sp>
        <p:nvSpPr>
          <p:cNvPr id="11" name="TextBox 10"/>
          <p:cNvSpPr txBox="1"/>
          <p:nvPr/>
        </p:nvSpPr>
        <p:spPr>
          <a:xfrm>
            <a:off x="4617720" y="2743200"/>
            <a:ext cx="2926080" cy="548640"/>
          </a:xfrm>
          <a:prstGeom prst="rect">
            <a:avLst/>
          </a:prstGeom>
          <a:noFill/>
        </p:spPr>
        <p:txBody>
          <a:bodyPr wrap="square" anchor="t" lIns="0" rIns="0" tIns="0" bIns="0">
            <a:spAutoFit/>
          </a:bodyPr>
          <a:lstStyle/>
          <a:p>
            <a:pPr algn="l"/>
            <a:r>
              <a:rPr sz="2600" b="1">
                <a:solidFill>
                  <a:srgbClr val="0F3D3E"/>
                </a:solidFill>
                <a:latin typeface="Cambria"/>
              </a:rPr>
              <a:t>Pilot</a:t>
            </a:r>
          </a:p>
        </p:txBody>
      </p:sp>
      <p:sp>
        <p:nvSpPr>
          <p:cNvPr id="12" name="TextBox 11"/>
          <p:cNvSpPr txBox="1"/>
          <p:nvPr/>
        </p:nvSpPr>
        <p:spPr>
          <a:xfrm>
            <a:off x="4617720" y="3429000"/>
            <a:ext cx="2926080" cy="2377440"/>
          </a:xfrm>
          <a:prstGeom prst="rect">
            <a:avLst/>
          </a:prstGeom>
          <a:noFill/>
        </p:spPr>
        <p:txBody>
          <a:bodyPr wrap="square" anchor="t" lIns="0" rIns="0" tIns="0" bIns="0">
            <a:spAutoFit/>
          </a:bodyPr>
          <a:lstStyle/>
          <a:p>
            <a:pPr algn="l">
              <a:spcAft>
                <a:spcPts val="1000"/>
              </a:spcAft>
            </a:pPr>
            <a:r>
              <a:rPr sz="1500" b="0">
                <a:solidFill>
                  <a:srgbClr val="1F2A2A"/>
                </a:solidFill>
                <a:latin typeface="Calibri"/>
              </a:rPr>
              <a:t>Run one tailored campaign per group</a:t>
            </a:r>
          </a:p>
          <a:p>
            <a:pPr algn="l">
              <a:spcAft>
                <a:spcPts val="1000"/>
              </a:spcAft>
            </a:pPr>
            <a:r>
              <a:rPr sz="1500" b="0">
                <a:solidFill>
                  <a:srgbClr val="1F2A2A"/>
                </a:solidFill>
                <a:latin typeface="Calibri"/>
              </a:rPr>
              <a:t>Hold back a control group on today's marketing</a:t>
            </a:r>
          </a:p>
          <a:p>
            <a:pPr algn="l">
              <a:spcAft>
                <a:spcPts val="1000"/>
              </a:spcAft>
            </a:pPr>
            <a:r>
              <a:rPr sz="1500" b="0">
                <a:solidFill>
                  <a:srgbClr val="1F2A2A"/>
                </a:solidFill>
                <a:latin typeface="Calibri"/>
              </a:rPr>
              <a:t>Review the Heavy Returners list by hand</a:t>
            </a:r>
          </a:p>
        </p:txBody>
      </p:sp>
      <p:sp>
        <p:nvSpPr>
          <p:cNvPr id="13" name="Phase card: Decide"/>
          <p:cNvSpPr/>
          <p:nvPr/>
        </p:nvSpPr>
        <p:spPr>
          <a:xfrm>
            <a:off x="8046719" y="1783080"/>
            <a:ext cx="3474720" cy="3429000"/>
          </a:xfrm>
          <a:prstGeom prst="roundRect">
            <a:avLst>
              <a:gd name="adj" fmla="val 6000"/>
            </a:avLst>
          </a:prstGeom>
          <a:solidFill>
            <a:srgbClr val="E8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21040" y="2011680"/>
            <a:ext cx="566928" cy="566928"/>
          </a:xfrm>
          <a:prstGeom prst="ellipse">
            <a:avLst/>
          </a:prstGeom>
          <a:solidFill>
            <a:srgbClr val="0F3D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3</a:t>
            </a:r>
          </a:p>
        </p:txBody>
      </p:sp>
      <p:sp>
        <p:nvSpPr>
          <p:cNvPr id="15" name="TextBox 14"/>
          <p:cNvSpPr txBox="1"/>
          <p:nvPr/>
        </p:nvSpPr>
        <p:spPr>
          <a:xfrm>
            <a:off x="9052559" y="2011680"/>
            <a:ext cx="2286000" cy="566928"/>
          </a:xfrm>
          <a:prstGeom prst="rect">
            <a:avLst/>
          </a:prstGeom>
          <a:noFill/>
        </p:spPr>
        <p:txBody>
          <a:bodyPr wrap="square" anchor="ctr" lIns="0" rIns="0" tIns="0" bIns="0">
            <a:spAutoFit/>
          </a:bodyPr>
          <a:lstStyle/>
          <a:p>
            <a:pPr algn="l"/>
            <a:r>
              <a:rPr sz="1500" b="0">
                <a:solidFill>
                  <a:srgbClr val="5E6B6B"/>
                </a:solidFill>
                <a:latin typeface="Calibri"/>
              </a:rPr>
              <a:t>Days 61 to 90</a:t>
            </a:r>
          </a:p>
        </p:txBody>
      </p:sp>
      <p:sp>
        <p:nvSpPr>
          <p:cNvPr id="16" name="TextBox 15"/>
          <p:cNvSpPr txBox="1"/>
          <p:nvPr/>
        </p:nvSpPr>
        <p:spPr>
          <a:xfrm>
            <a:off x="8321040" y="2743200"/>
            <a:ext cx="2926080" cy="548640"/>
          </a:xfrm>
          <a:prstGeom prst="rect">
            <a:avLst/>
          </a:prstGeom>
          <a:noFill/>
        </p:spPr>
        <p:txBody>
          <a:bodyPr wrap="square" anchor="t" lIns="0" rIns="0" tIns="0" bIns="0">
            <a:spAutoFit/>
          </a:bodyPr>
          <a:lstStyle/>
          <a:p>
            <a:pPr algn="l"/>
            <a:r>
              <a:rPr sz="2600" b="1">
                <a:solidFill>
                  <a:srgbClr val="0F3D3E"/>
                </a:solidFill>
                <a:latin typeface="Cambria"/>
              </a:rPr>
              <a:t>Decide</a:t>
            </a:r>
          </a:p>
        </p:txBody>
      </p:sp>
      <p:sp>
        <p:nvSpPr>
          <p:cNvPr id="17" name="TextBox 16"/>
          <p:cNvSpPr txBox="1"/>
          <p:nvPr/>
        </p:nvSpPr>
        <p:spPr>
          <a:xfrm>
            <a:off x="8321040" y="3429000"/>
            <a:ext cx="2926080" cy="2377440"/>
          </a:xfrm>
          <a:prstGeom prst="rect">
            <a:avLst/>
          </a:prstGeom>
          <a:noFill/>
        </p:spPr>
        <p:txBody>
          <a:bodyPr wrap="square" anchor="t" lIns="0" rIns="0" tIns="0" bIns="0">
            <a:spAutoFit/>
          </a:bodyPr>
          <a:lstStyle/>
          <a:p>
            <a:pPr algn="l">
              <a:spcAft>
                <a:spcPts val="1000"/>
              </a:spcAft>
            </a:pPr>
            <a:r>
              <a:rPr sz="1500" b="0">
                <a:solidFill>
                  <a:srgbClr val="1F2A2A"/>
                </a:solidFill>
                <a:latin typeface="Calibri"/>
              </a:rPr>
              <a:t>Compare response and repeat purchases with the control group</a:t>
            </a:r>
          </a:p>
          <a:p>
            <a:pPr algn="l">
              <a:spcAft>
                <a:spcPts val="1000"/>
              </a:spcAft>
            </a:pPr>
            <a:r>
              <a:rPr sz="1500" b="0">
                <a:solidFill>
                  <a:srgbClr val="1F2A2A"/>
                </a:solidFill>
                <a:latin typeface="Calibri"/>
              </a:rPr>
              <a:t>Roll out what worked</a:t>
            </a:r>
          </a:p>
          <a:p>
            <a:pPr algn="l">
              <a:spcAft>
                <a:spcPts val="1000"/>
              </a:spcAft>
            </a:pPr>
            <a:r>
              <a:rPr sz="1500" b="0">
                <a:solidFill>
                  <a:srgbClr val="1F2A2A"/>
                </a:solidFill>
                <a:latin typeface="Calibri"/>
              </a:rPr>
              <a:t>Schedule the quarterly refresh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3D3E"/>
        </a:solidFill>
        <a:effectLst/>
      </p:bgPr>
    </p:bg>
    <p:spTree>
      <p:nvGrpSpPr>
        <p:cNvPr id="1" name=""/>
        <p:cNvGrpSpPr/>
        <p:nvPr/>
      </p:nvGrpSpPr>
      <p:grpSpPr/>
      <p:sp>
        <p:nvSpPr>
          <p:cNvPr id="2" name="Title 1"/>
          <p:cNvSpPr>
            <a:spLocks noGrp="1"/>
          </p:cNvSpPr>
          <p:nvPr>
            <p:ph type="title"/>
          </p:nvPr>
        </p:nvSpPr>
        <p:spPr>
          <a:xfrm>
            <a:off x="640080" y="457200"/>
            <a:ext cx="10911535" cy="1143000"/>
          </a:xfrm>
        </p:spPr>
        <p:txBody>
          <a:bodyPr wrap="square" anchor="t" lIns="0" rIns="0" tIns="0" bIns="0"/>
          <a:lstStyle/>
          <a:p>
            <a:pPr algn="l"/>
            <a:r>
              <a:rPr sz="3400" b="1">
                <a:solidFill>
                  <a:srgbClr val="FFFFFF"/>
                </a:solidFill>
                <a:latin typeface="Cambria"/>
              </a:rPr>
              <a:t>Three decisions needed today</a:t>
            </a:r>
          </a:p>
        </p:txBody>
      </p:sp>
      <p:sp>
        <p:nvSpPr>
          <p:cNvPr id="3" name="Oval 2"/>
          <p:cNvSpPr/>
          <p:nvPr/>
        </p:nvSpPr>
        <p:spPr>
          <a:xfrm>
            <a:off x="640080" y="1828800"/>
            <a:ext cx="566928" cy="566928"/>
          </a:xfrm>
          <a:prstGeom prst="ellipse">
            <a:avLst/>
          </a:prstGeom>
          <a:solidFill>
            <a:srgbClr val="E272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1</a:t>
            </a:r>
          </a:p>
        </p:txBody>
      </p:sp>
      <p:sp>
        <p:nvSpPr>
          <p:cNvPr id="4" name="TextBox 3"/>
          <p:cNvSpPr txBox="1"/>
          <p:nvPr/>
        </p:nvSpPr>
        <p:spPr>
          <a:xfrm>
            <a:off x="1463040" y="1801368"/>
            <a:ext cx="5394960" cy="457200"/>
          </a:xfrm>
          <a:prstGeom prst="rect">
            <a:avLst/>
          </a:prstGeom>
          <a:noFill/>
        </p:spPr>
        <p:txBody>
          <a:bodyPr wrap="square" anchor="t" lIns="0" rIns="0" tIns="0" bIns="0">
            <a:spAutoFit/>
          </a:bodyPr>
          <a:lstStyle/>
          <a:p>
            <a:pPr algn="l"/>
            <a:r>
              <a:rPr sz="2000" b="1">
                <a:solidFill>
                  <a:srgbClr val="FFFFFF"/>
                </a:solidFill>
                <a:latin typeface="Calibri"/>
              </a:rPr>
              <a:t>Approve the 90-day pilot</a:t>
            </a:r>
          </a:p>
        </p:txBody>
      </p:sp>
      <p:sp>
        <p:nvSpPr>
          <p:cNvPr id="5" name="TextBox 4"/>
          <p:cNvSpPr txBox="1"/>
          <p:nvPr/>
        </p:nvSpPr>
        <p:spPr>
          <a:xfrm>
            <a:off x="1463040" y="2286000"/>
            <a:ext cx="5394960" cy="731520"/>
          </a:xfrm>
          <a:prstGeom prst="rect">
            <a:avLst/>
          </a:prstGeom>
          <a:noFill/>
        </p:spPr>
        <p:txBody>
          <a:bodyPr wrap="square" anchor="t" lIns="0" rIns="0" tIns="0" bIns="0">
            <a:spAutoFit/>
          </a:bodyPr>
          <a:lstStyle/>
          <a:p>
            <a:pPr algn="l"/>
            <a:r>
              <a:rPr sz="1500" b="0">
                <a:solidFill>
                  <a:srgbClr val="B9D3D1"/>
                </a:solidFill>
                <a:latin typeface="Calibri"/>
              </a:rPr>
              <a:t>One tailored campaign per group, measured against a control group.</a:t>
            </a:r>
          </a:p>
        </p:txBody>
      </p:sp>
      <p:sp>
        <p:nvSpPr>
          <p:cNvPr id="6" name="Oval 5"/>
          <p:cNvSpPr/>
          <p:nvPr/>
        </p:nvSpPr>
        <p:spPr>
          <a:xfrm>
            <a:off x="640080" y="3200400"/>
            <a:ext cx="566928" cy="566928"/>
          </a:xfrm>
          <a:prstGeom prst="ellipse">
            <a:avLst/>
          </a:prstGeom>
          <a:solidFill>
            <a:srgbClr val="E272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2</a:t>
            </a:r>
          </a:p>
        </p:txBody>
      </p:sp>
      <p:sp>
        <p:nvSpPr>
          <p:cNvPr id="7" name="TextBox 6"/>
          <p:cNvSpPr txBox="1"/>
          <p:nvPr/>
        </p:nvSpPr>
        <p:spPr>
          <a:xfrm>
            <a:off x="1463040" y="3172968"/>
            <a:ext cx="5394960" cy="457200"/>
          </a:xfrm>
          <a:prstGeom prst="rect">
            <a:avLst/>
          </a:prstGeom>
          <a:noFill/>
        </p:spPr>
        <p:txBody>
          <a:bodyPr wrap="square" anchor="t" lIns="0" rIns="0" tIns="0" bIns="0">
            <a:spAutoFit/>
          </a:bodyPr>
          <a:lstStyle/>
          <a:p>
            <a:pPr algn="l"/>
            <a:r>
              <a:rPr sz="2000" b="1">
                <a:solidFill>
                  <a:srgbClr val="FFFFFF"/>
                </a:solidFill>
                <a:latin typeface="Calibri"/>
              </a:rPr>
              <a:t>Adopt the spend-based safety net</a:t>
            </a:r>
          </a:p>
        </p:txBody>
      </p:sp>
      <p:sp>
        <p:nvSpPr>
          <p:cNvPr id="8" name="TextBox 7"/>
          <p:cNvSpPr txBox="1"/>
          <p:nvPr/>
        </p:nvSpPr>
        <p:spPr>
          <a:xfrm>
            <a:off x="1463040" y="3657600"/>
            <a:ext cx="5394960" cy="731520"/>
          </a:xfrm>
          <a:prstGeom prst="rect">
            <a:avLst/>
          </a:prstGeom>
          <a:noFill/>
        </p:spPr>
        <p:txBody>
          <a:bodyPr wrap="square" anchor="t" lIns="0" rIns="0" tIns="0" bIns="0">
            <a:spAutoFit/>
          </a:bodyPr>
          <a:lstStyle/>
          <a:p>
            <a:pPr algn="l"/>
            <a:r>
              <a:rPr sz="1500" b="0">
                <a:solidFill>
                  <a:srgbClr val="B9D3D1"/>
                </a:solidFill>
                <a:latin typeface="Calibri"/>
              </a:rPr>
              <a:t>Recent high spenders qualify for perks however few orders they place.</a:t>
            </a:r>
          </a:p>
        </p:txBody>
      </p:sp>
      <p:sp>
        <p:nvSpPr>
          <p:cNvPr id="9" name="Oval 8"/>
          <p:cNvSpPr/>
          <p:nvPr/>
        </p:nvSpPr>
        <p:spPr>
          <a:xfrm>
            <a:off x="640080" y="4572000"/>
            <a:ext cx="566928" cy="566928"/>
          </a:xfrm>
          <a:prstGeom prst="ellipse">
            <a:avLst/>
          </a:prstGeom>
          <a:solidFill>
            <a:srgbClr val="E272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3</a:t>
            </a:r>
          </a:p>
        </p:txBody>
      </p:sp>
      <p:sp>
        <p:nvSpPr>
          <p:cNvPr id="10" name="TextBox 9"/>
          <p:cNvSpPr txBox="1"/>
          <p:nvPr/>
        </p:nvSpPr>
        <p:spPr>
          <a:xfrm>
            <a:off x="1463040" y="4544568"/>
            <a:ext cx="5394960" cy="457200"/>
          </a:xfrm>
          <a:prstGeom prst="rect">
            <a:avLst/>
          </a:prstGeom>
          <a:noFill/>
        </p:spPr>
        <p:txBody>
          <a:bodyPr wrap="square" anchor="t" lIns="0" rIns="0" tIns="0" bIns="0">
            <a:spAutoFit/>
          </a:bodyPr>
          <a:lstStyle/>
          <a:p>
            <a:pPr algn="l"/>
            <a:r>
              <a:rPr sz="2000" b="1">
                <a:solidFill>
                  <a:srgbClr val="FFFFFF"/>
                </a:solidFill>
                <a:latin typeface="Calibri"/>
              </a:rPr>
              <a:t>Name an owner for the quarterly refresh</a:t>
            </a:r>
          </a:p>
        </p:txBody>
      </p:sp>
      <p:sp>
        <p:nvSpPr>
          <p:cNvPr id="11" name="TextBox 10"/>
          <p:cNvSpPr txBox="1"/>
          <p:nvPr/>
        </p:nvSpPr>
        <p:spPr>
          <a:xfrm>
            <a:off x="1463040" y="5029200"/>
            <a:ext cx="5394960" cy="731520"/>
          </a:xfrm>
          <a:prstGeom prst="rect">
            <a:avLst/>
          </a:prstGeom>
          <a:noFill/>
        </p:spPr>
        <p:txBody>
          <a:bodyPr wrap="square" anchor="t" lIns="0" rIns="0" tIns="0" bIns="0">
            <a:spAutoFit/>
          </a:bodyPr>
          <a:lstStyle/>
          <a:p>
            <a:pPr algn="l"/>
            <a:r>
              <a:rPr sz="1500" b="0">
                <a:solidFill>
                  <a:srgbClr val="B9D3D1"/>
                </a:solidFill>
                <a:latin typeface="Calibri"/>
              </a:rPr>
              <a:t>Someone accountable for keeping the groups and the fairness check current.</a:t>
            </a:r>
          </a:p>
        </p:txBody>
      </p:sp>
      <p:sp>
        <p:nvSpPr>
          <p:cNvPr id="12" name="Measures card"/>
          <p:cNvSpPr/>
          <p:nvPr/>
        </p:nvSpPr>
        <p:spPr>
          <a:xfrm>
            <a:off x="7223760" y="1783080"/>
            <a:ext cx="4325112" cy="3429000"/>
          </a:xfrm>
          <a:prstGeom prst="roundRect">
            <a:avLst>
              <a:gd name="adj" fmla="val 6000"/>
            </a:avLst>
          </a:prstGeom>
          <a:solidFill>
            <a:srgbClr val="1B7F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1965960"/>
            <a:ext cx="3840480" cy="4023360"/>
          </a:xfrm>
          <a:prstGeom prst="rect">
            <a:avLst/>
          </a:prstGeom>
          <a:noFill/>
        </p:spPr>
        <p:txBody>
          <a:bodyPr wrap="square" anchor="t" lIns="0" rIns="0" tIns="0" bIns="0">
            <a:spAutoFit/>
          </a:bodyPr>
          <a:lstStyle/>
          <a:p>
            <a:pPr algn="l">
              <a:spcAft>
                <a:spcPts val="900"/>
              </a:spcAft>
            </a:pPr>
            <a:r>
              <a:rPr sz="1800" b="1">
                <a:solidFill>
                  <a:srgbClr val="FFFFFF"/>
                </a:solidFill>
                <a:latin typeface="Calibri"/>
              </a:rPr>
              <a:t>How we will measure success</a:t>
            </a:r>
          </a:p>
          <a:p>
            <a:pPr algn="l">
              <a:spcAft>
                <a:spcPts val="900"/>
              </a:spcAft>
            </a:pPr>
            <a:r>
              <a:rPr sz="1500" b="1">
                <a:solidFill>
                  <a:srgbClr val="FFFFFF"/>
                </a:solidFill>
                <a:latin typeface="Calibri"/>
              </a:rPr>
              <a:t>Campaign response: </a:t>
            </a:r>
            <a:r>
              <a:rPr sz="1500" b="0">
                <a:solidFill>
                  <a:srgbClr val="B9D3D1"/>
                </a:solidFill>
                <a:latin typeface="Calibri"/>
              </a:rPr>
              <a:t>at least 20% above the control group</a:t>
            </a:r>
          </a:p>
          <a:p>
            <a:pPr algn="l">
              <a:spcAft>
                <a:spcPts val="900"/>
              </a:spcAft>
            </a:pPr>
            <a:r>
              <a:rPr sz="1500" b="1">
                <a:solidFill>
                  <a:srgbClr val="FFFFFF"/>
                </a:solidFill>
                <a:latin typeface="Calibri"/>
              </a:rPr>
              <a:t>Top customers who reorder: </a:t>
            </a:r>
            <a:r>
              <a:rPr sz="1500" b="0">
                <a:solidFill>
                  <a:srgbClr val="B9D3D1"/>
                </a:solidFill>
                <a:latin typeface="Calibri"/>
              </a:rPr>
              <a:t>from 90% today to 92%</a:t>
            </a:r>
          </a:p>
          <a:p>
            <a:pPr algn="l">
              <a:spcAft>
                <a:spcPts val="900"/>
              </a:spcAft>
            </a:pPr>
            <a:r>
              <a:rPr sz="1500" b="1">
                <a:solidFill>
                  <a:srgbClr val="FFFFFF"/>
                </a:solidFill>
                <a:latin typeface="Calibri"/>
              </a:rPr>
              <a:t>Quiet customers won back: </a:t>
            </a:r>
            <a:r>
              <a:rPr sz="1500" b="0">
                <a:solidFill>
                  <a:srgbClr val="B9D3D1"/>
                </a:solidFill>
                <a:latin typeface="Calibri"/>
              </a:rPr>
              <a:t>from 34% today to 39%</a:t>
            </a:r>
          </a:p>
          <a:p>
            <a:pPr algn="l">
              <a:spcAft>
                <a:spcPts val="900"/>
              </a:spcAft>
            </a:pPr>
            <a:r>
              <a:rPr sz="1500" b="1">
                <a:solidFill>
                  <a:srgbClr val="FFFFFF"/>
                </a:solidFill>
                <a:latin typeface="Calibri"/>
              </a:rPr>
              <a:t>Marketing cost per £ of sales: </a:t>
            </a:r>
            <a:r>
              <a:rPr sz="1500" b="0">
                <a:solidFill>
                  <a:srgbClr val="B9D3D1"/>
                </a:solidFill>
                <a:latin typeface="Calibri"/>
              </a:rPr>
              <a:t>10% lower than today</a:t>
            </a:r>
          </a:p>
          <a:p>
            <a:pPr algn="l">
              <a:spcAft>
                <a:spcPts val="900"/>
              </a:spcAft>
            </a:pPr>
            <a:r>
              <a:rPr sz="1200" b="0">
                <a:solidFill>
                  <a:srgbClr val="B9D3D1"/>
                </a:solidFill>
                <a:latin typeface="Calibri"/>
              </a:rPr>
              <a:t>Proposed targets, to be agreed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Segmentation: Business Briefing</dc:title>
  <dc:subject/>
  <dc:creator>Frederick Halog</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